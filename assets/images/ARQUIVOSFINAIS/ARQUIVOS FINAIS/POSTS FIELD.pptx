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0287000" cy="12852400"/>
  <p:notesSz cx="6858000" cy="9144000"/>
  <p:embeddedFontLst>
    <p:embeddedFont>
      <p:font typeface="Poppins Bold" charset="1" panose="00000800000000000000"/>
      <p:regular r:id="rId9"/>
    </p:embeddedFont>
    <p:embeddedFont>
      <p:font typeface="Poppins" charset="1" panose="00000500000000000000"/>
      <p:regular r:id="rId10"/>
    </p:embeddedFont>
    <p:embeddedFont>
      <p:font typeface="Muli Bold" charset="1" panose="000008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A4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7849" y="0"/>
            <a:ext cx="9040967" cy="12858750"/>
            <a:chOff x="0" y="0"/>
            <a:chExt cx="12054623" cy="17145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054623" cy="17145000"/>
              <a:chOff x="0" y="0"/>
              <a:chExt cx="660400" cy="9392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0400" cy="939271"/>
              </a:xfrm>
              <a:custGeom>
                <a:avLst/>
                <a:gdLst/>
                <a:ahLst/>
                <a:cxnLst/>
                <a:rect r="r" b="b" t="t" l="l"/>
                <a:pathLst>
                  <a:path h="939271" w="660400">
                    <a:moveTo>
                      <a:pt x="220252" y="920202"/>
                    </a:moveTo>
                    <a:cubicBezTo>
                      <a:pt x="254109" y="931716"/>
                      <a:pt x="292600" y="939271"/>
                      <a:pt x="330378" y="939271"/>
                    </a:cubicBezTo>
                    <a:cubicBezTo>
                      <a:pt x="368157" y="939271"/>
                      <a:pt x="404509" y="932794"/>
                      <a:pt x="438009" y="921280"/>
                    </a:cubicBezTo>
                    <a:cubicBezTo>
                      <a:pt x="438723" y="920921"/>
                      <a:pt x="439435" y="920921"/>
                      <a:pt x="440148" y="920561"/>
                    </a:cubicBezTo>
                    <a:cubicBezTo>
                      <a:pt x="565955" y="874506"/>
                      <a:pt x="658618" y="752892"/>
                      <a:pt x="660400" y="607960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607509"/>
                    </a:lnTo>
                    <a:cubicBezTo>
                      <a:pt x="1782" y="753611"/>
                      <a:pt x="93019" y="875226"/>
                      <a:pt x="220252" y="920202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66675"/>
                <a:ext cx="660400" cy="8789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8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55881" y="13030200"/>
              <a:ext cx="5595505" cy="4114800"/>
              <a:chOff x="0" y="0"/>
              <a:chExt cx="1105285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0528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05285">
                    <a:moveTo>
                      <a:pt x="0" y="0"/>
                    </a:moveTo>
                    <a:lnTo>
                      <a:pt x="1105285" y="0"/>
                    </a:lnTo>
                    <a:lnTo>
                      <a:pt x="1105285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1105285" cy="879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82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1035768" y="2335087"/>
            <a:ext cx="6255361" cy="197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151722"/>
                </a:solidFill>
                <a:latin typeface="Poppins Bold"/>
                <a:ea typeface="Poppins Bold"/>
                <a:cs typeface="Poppins Bold"/>
                <a:sym typeface="Poppins Bold"/>
              </a:rPr>
              <a:t>Au</a:t>
            </a:r>
            <a:r>
              <a:rPr lang="en-US" b="true" sz="6800" strike="noStrike" u="none">
                <a:solidFill>
                  <a:srgbClr val="151722"/>
                </a:solidFill>
                <a:latin typeface="Poppins Bold"/>
                <a:ea typeface="Poppins Bold"/>
                <a:cs typeface="Poppins Bold"/>
                <a:sym typeface="Poppins Bold"/>
              </a:rPr>
              <a:t>tomação de Trato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5768" y="4334248"/>
            <a:ext cx="4933396" cy="428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3079">
                <a:solidFill>
                  <a:srgbClr val="151722"/>
                </a:solidFill>
                <a:latin typeface="Poppins"/>
                <a:ea typeface="Poppins"/>
                <a:cs typeface="Poppins"/>
                <a:sym typeface="Poppins"/>
              </a:rPr>
              <a:t>Do silo ao cocho, tudo sob controle.</a:t>
            </a:r>
          </a:p>
          <a:p>
            <a:pPr algn="l" marL="0" indent="0" lvl="0">
              <a:lnSpc>
                <a:spcPts val="3387"/>
              </a:lnSpc>
              <a:spcBef>
                <a:spcPct val="0"/>
              </a:spcBef>
            </a:pPr>
            <a:r>
              <a:rPr lang="en-US" sz="3079">
                <a:solidFill>
                  <a:srgbClr val="151722"/>
                </a:solidFill>
                <a:latin typeface="Poppins"/>
                <a:ea typeface="Poppins"/>
                <a:cs typeface="Poppins"/>
                <a:sym typeface="Poppins"/>
              </a:rPr>
              <a:t>O FieldTrato automatiza a fabricação e o fornecimento do trato, </a:t>
            </a:r>
            <a:r>
              <a:rPr lang="en-US" sz="3079" strike="noStrike" u="none">
                <a:solidFill>
                  <a:srgbClr val="151722"/>
                </a:solidFill>
                <a:latin typeface="Poppins"/>
                <a:ea typeface="Poppins"/>
                <a:cs typeface="Poppins"/>
                <a:sym typeface="Poppins"/>
              </a:rPr>
              <a:t>garantindo precisão, confiabilidade e dados coletados automaticamente em cada operação.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675262"/>
            <a:ext cx="5575151" cy="66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7"/>
              </a:lnSpc>
              <a:spcBef>
                <a:spcPct val="0"/>
              </a:spcBef>
            </a:pPr>
            <a:r>
              <a:rPr lang="en-US" sz="4388">
                <a:solidFill>
                  <a:srgbClr val="151722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35768" y="8897104"/>
            <a:ext cx="2716556" cy="448179"/>
            <a:chOff x="0" y="0"/>
            <a:chExt cx="749744" cy="1236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9744" cy="123693"/>
            </a:xfrm>
            <a:custGeom>
              <a:avLst/>
              <a:gdLst/>
              <a:ahLst/>
              <a:cxnLst/>
              <a:rect r="r" b="b" t="t" l="l"/>
              <a:pathLst>
                <a:path h="123693" w="749744">
                  <a:moveTo>
                    <a:pt x="0" y="0"/>
                  </a:moveTo>
                  <a:lnTo>
                    <a:pt x="749744" y="0"/>
                  </a:lnTo>
                  <a:lnTo>
                    <a:pt x="749744" y="123693"/>
                  </a:lnTo>
                  <a:lnTo>
                    <a:pt x="0" y="123693"/>
                  </a:lnTo>
                  <a:close/>
                </a:path>
              </a:pathLst>
            </a:custGeom>
            <a:solidFill>
              <a:srgbClr val="1CA4CD"/>
            </a:solidFill>
            <a:ln w="9525" cap="sq">
              <a:solidFill>
                <a:srgbClr val="1EABC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749744" cy="190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06000" y="9049186"/>
            <a:ext cx="2546324" cy="20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0"/>
              </a:lnSpc>
            </a:pPr>
            <a:r>
              <a:rPr lang="en-US" b="true" sz="1643" spc="5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ARRASTA PRO LADO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681589" y="8897104"/>
            <a:ext cx="495035" cy="448179"/>
            <a:chOff x="0" y="0"/>
            <a:chExt cx="136625" cy="1236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6625" cy="123693"/>
            </a:xfrm>
            <a:custGeom>
              <a:avLst/>
              <a:gdLst/>
              <a:ahLst/>
              <a:cxnLst/>
              <a:rect r="r" b="b" t="t" l="l"/>
              <a:pathLst>
                <a:path h="123693" w="136625">
                  <a:moveTo>
                    <a:pt x="0" y="0"/>
                  </a:moveTo>
                  <a:lnTo>
                    <a:pt x="136625" y="0"/>
                  </a:lnTo>
                  <a:lnTo>
                    <a:pt x="136625" y="123693"/>
                  </a:lnTo>
                  <a:lnTo>
                    <a:pt x="0" y="1236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1EABCD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36625" cy="190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3854982" y="8207024"/>
            <a:ext cx="182914" cy="0"/>
          </a:xfrm>
          <a:prstGeom prst="line">
            <a:avLst/>
          </a:prstGeom>
          <a:ln cap="flat" w="19050">
            <a:solidFill>
              <a:srgbClr val="1EABC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335602" y="9602458"/>
            <a:ext cx="2955322" cy="2955322"/>
          </a:xfrm>
          <a:custGeom>
            <a:avLst/>
            <a:gdLst/>
            <a:ahLst/>
            <a:cxnLst/>
            <a:rect r="r" b="b" t="t" l="l"/>
            <a:pathLst>
              <a:path h="2955322" w="2955322">
                <a:moveTo>
                  <a:pt x="0" y="0"/>
                </a:moveTo>
                <a:lnTo>
                  <a:pt x="2955322" y="0"/>
                </a:lnTo>
                <a:lnTo>
                  <a:pt x="2955322" y="2955322"/>
                </a:lnTo>
                <a:lnTo>
                  <a:pt x="0" y="295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854982" y="1028700"/>
            <a:ext cx="10717187" cy="12720696"/>
          </a:xfrm>
          <a:custGeom>
            <a:avLst/>
            <a:gdLst/>
            <a:ahLst/>
            <a:cxnLst/>
            <a:rect r="r" b="b" t="t" l="l"/>
            <a:pathLst>
              <a:path h="12720696" w="10717187">
                <a:moveTo>
                  <a:pt x="0" y="0"/>
                </a:moveTo>
                <a:lnTo>
                  <a:pt x="10717187" y="0"/>
                </a:lnTo>
                <a:lnTo>
                  <a:pt x="10717187" y="12720696"/>
                </a:lnTo>
                <a:lnTo>
                  <a:pt x="0" y="12720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A4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749" y="-825890"/>
            <a:ext cx="10889704" cy="7255265"/>
          </a:xfrm>
          <a:custGeom>
            <a:avLst/>
            <a:gdLst/>
            <a:ahLst/>
            <a:cxnLst/>
            <a:rect r="r" b="b" t="t" l="l"/>
            <a:pathLst>
              <a:path h="7255265" w="10889704">
                <a:moveTo>
                  <a:pt x="0" y="0"/>
                </a:moveTo>
                <a:lnTo>
                  <a:pt x="10889704" y="0"/>
                </a:lnTo>
                <a:lnTo>
                  <a:pt x="10889704" y="7255265"/>
                </a:lnTo>
                <a:lnTo>
                  <a:pt x="0" y="72552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23017" y="3257623"/>
            <a:ext cx="9040967" cy="12858750"/>
            <a:chOff x="0" y="0"/>
            <a:chExt cx="12054623" cy="1714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054623" cy="17145000"/>
              <a:chOff x="0" y="0"/>
              <a:chExt cx="660400" cy="93927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" cy="939271"/>
              </a:xfrm>
              <a:custGeom>
                <a:avLst/>
                <a:gdLst/>
                <a:ahLst/>
                <a:cxnLst/>
                <a:rect r="r" b="b" t="t" l="l"/>
                <a:pathLst>
                  <a:path h="939271" w="660400">
                    <a:moveTo>
                      <a:pt x="220252" y="920202"/>
                    </a:moveTo>
                    <a:cubicBezTo>
                      <a:pt x="254109" y="931716"/>
                      <a:pt x="292600" y="939271"/>
                      <a:pt x="330378" y="939271"/>
                    </a:cubicBezTo>
                    <a:cubicBezTo>
                      <a:pt x="368157" y="939271"/>
                      <a:pt x="404509" y="932794"/>
                      <a:pt x="438009" y="921280"/>
                    </a:cubicBezTo>
                    <a:cubicBezTo>
                      <a:pt x="438723" y="920921"/>
                      <a:pt x="439435" y="920921"/>
                      <a:pt x="440148" y="920561"/>
                    </a:cubicBezTo>
                    <a:cubicBezTo>
                      <a:pt x="565955" y="874506"/>
                      <a:pt x="658618" y="752892"/>
                      <a:pt x="660400" y="607960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607509"/>
                    </a:lnTo>
                    <a:cubicBezTo>
                      <a:pt x="1782" y="753611"/>
                      <a:pt x="93019" y="875226"/>
                      <a:pt x="220252" y="920202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660400" cy="8789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82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55881" y="13030200"/>
              <a:ext cx="5595505" cy="4114800"/>
              <a:chOff x="0" y="0"/>
              <a:chExt cx="1105285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0528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05285">
                    <a:moveTo>
                      <a:pt x="0" y="0"/>
                    </a:moveTo>
                    <a:lnTo>
                      <a:pt x="1105285" y="0"/>
                    </a:lnTo>
                    <a:lnTo>
                      <a:pt x="1105285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66675"/>
                <a:ext cx="1105285" cy="879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82"/>
                  </a:lnSpc>
                </a:pP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596422" y="8729003"/>
            <a:ext cx="4933396" cy="34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7"/>
              </a:lnSpc>
              <a:spcBef>
                <a:spcPct val="0"/>
              </a:spcBef>
            </a:pPr>
            <a:r>
              <a:rPr lang="en-US" sz="3079">
                <a:solidFill>
                  <a:srgbClr val="151722"/>
                </a:solidFill>
                <a:latin typeface="Poppins"/>
                <a:ea typeface="Poppins"/>
                <a:cs typeface="Poppins"/>
                <a:sym typeface="Poppins"/>
              </a:rPr>
              <a:t>Com o FieldPec, você controla</a:t>
            </a:r>
            <a:r>
              <a:rPr lang="en-US" sz="3079">
                <a:solidFill>
                  <a:srgbClr val="151722"/>
                </a:solidFill>
                <a:latin typeface="Poppins"/>
                <a:ea typeface="Poppins"/>
                <a:cs typeface="Poppins"/>
                <a:sym typeface="Poppins"/>
              </a:rPr>
              <a:t> cada etapa da vida do animal, com foco em saúde, desempenho e controle </a:t>
            </a:r>
            <a:r>
              <a:rPr lang="en-US" sz="3079" strike="noStrike" u="none">
                <a:solidFill>
                  <a:srgbClr val="151722"/>
                </a:solidFill>
                <a:latin typeface="Poppins"/>
                <a:ea typeface="Poppins"/>
                <a:cs typeface="Poppins"/>
                <a:sym typeface="Poppins"/>
              </a:rPr>
              <a:t>nutricional.</a:t>
            </a:r>
          </a:p>
          <a:p>
            <a:pPr algn="l" marL="0" indent="0" lvl="0">
              <a:lnSpc>
                <a:spcPts val="3387"/>
              </a:lnSpc>
              <a:spcBef>
                <a:spcPct val="0"/>
              </a:spcBef>
            </a:pPr>
            <a:r>
              <a:rPr lang="en-US" sz="3079" strike="noStrike" u="none">
                <a:solidFill>
                  <a:srgbClr val="151722"/>
                </a:solidFill>
                <a:latin typeface="Poppins"/>
                <a:ea typeface="Poppins"/>
                <a:cs typeface="Poppins"/>
                <a:sym typeface="Poppins"/>
              </a:rPr>
              <a:t>Simples de usar, poderoso nos resultados.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03851" y="11712850"/>
            <a:ext cx="2716556" cy="448179"/>
            <a:chOff x="0" y="0"/>
            <a:chExt cx="749744" cy="1236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9744" cy="123693"/>
            </a:xfrm>
            <a:custGeom>
              <a:avLst/>
              <a:gdLst/>
              <a:ahLst/>
              <a:cxnLst/>
              <a:rect r="r" b="b" t="t" l="l"/>
              <a:pathLst>
                <a:path h="123693" w="749744">
                  <a:moveTo>
                    <a:pt x="0" y="0"/>
                  </a:moveTo>
                  <a:lnTo>
                    <a:pt x="749744" y="0"/>
                  </a:lnTo>
                  <a:lnTo>
                    <a:pt x="749744" y="123693"/>
                  </a:lnTo>
                  <a:lnTo>
                    <a:pt x="0" y="123693"/>
                  </a:lnTo>
                  <a:close/>
                </a:path>
              </a:pathLst>
            </a:custGeom>
            <a:solidFill>
              <a:srgbClr val="1CA4CD"/>
            </a:solidFill>
            <a:ln w="9525" cap="sq">
              <a:solidFill>
                <a:srgbClr val="1EABC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749744" cy="190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774082" y="11864932"/>
            <a:ext cx="2546324" cy="20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0"/>
              </a:lnSpc>
            </a:pPr>
            <a:r>
              <a:rPr lang="en-US" b="true" sz="1643" spc="5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ARRASTA PRO LADO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49672" y="11712850"/>
            <a:ext cx="495035" cy="448179"/>
            <a:chOff x="0" y="0"/>
            <a:chExt cx="136625" cy="1236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625" cy="123693"/>
            </a:xfrm>
            <a:custGeom>
              <a:avLst/>
              <a:gdLst/>
              <a:ahLst/>
              <a:cxnLst/>
              <a:rect r="r" b="b" t="t" l="l"/>
              <a:pathLst>
                <a:path h="123693" w="136625">
                  <a:moveTo>
                    <a:pt x="0" y="0"/>
                  </a:moveTo>
                  <a:lnTo>
                    <a:pt x="136625" y="0"/>
                  </a:lnTo>
                  <a:lnTo>
                    <a:pt x="136625" y="123693"/>
                  </a:lnTo>
                  <a:lnTo>
                    <a:pt x="0" y="1236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1EABC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36625" cy="190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9405732" y="11927414"/>
            <a:ext cx="182914" cy="0"/>
          </a:xfrm>
          <a:prstGeom prst="line">
            <a:avLst/>
          </a:prstGeom>
          <a:ln cap="flat" w="19050">
            <a:solidFill>
              <a:srgbClr val="1EABC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6661899" y="8663489"/>
            <a:ext cx="2955322" cy="2955322"/>
          </a:xfrm>
          <a:custGeom>
            <a:avLst/>
            <a:gdLst/>
            <a:ahLst/>
            <a:cxnLst/>
            <a:rect r="r" b="b" t="t" l="l"/>
            <a:pathLst>
              <a:path h="2955322" w="2955322">
                <a:moveTo>
                  <a:pt x="0" y="0"/>
                </a:moveTo>
                <a:lnTo>
                  <a:pt x="2955323" y="0"/>
                </a:lnTo>
                <a:lnTo>
                  <a:pt x="2955323" y="2955322"/>
                </a:lnTo>
                <a:lnTo>
                  <a:pt x="0" y="2955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96422" y="6413342"/>
            <a:ext cx="6255361" cy="197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151722"/>
                </a:solidFill>
                <a:latin typeface="Poppins Bold"/>
                <a:ea typeface="Poppins Bold"/>
                <a:cs typeface="Poppins Bold"/>
                <a:sym typeface="Poppins Bold"/>
              </a:rPr>
              <a:t>Ges</a:t>
            </a:r>
            <a:r>
              <a:rPr lang="en-US" b="true" sz="6800" strike="noStrike" u="none">
                <a:solidFill>
                  <a:srgbClr val="151722"/>
                </a:solidFill>
                <a:latin typeface="Poppins Bold"/>
                <a:ea typeface="Poppins Bold"/>
                <a:cs typeface="Poppins Bold"/>
                <a:sym typeface="Poppins Bold"/>
              </a:rPr>
              <a:t>tão de Bovinos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6422" y="5766804"/>
            <a:ext cx="5575151" cy="66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7"/>
              </a:lnSpc>
              <a:spcBef>
                <a:spcPct val="0"/>
              </a:spcBef>
            </a:pPr>
            <a:r>
              <a:rPr lang="en-US" sz="4388">
                <a:solidFill>
                  <a:srgbClr val="151722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A4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2083367" y="0"/>
            <a:ext cx="9040967" cy="12858750"/>
            <a:chOff x="0" y="0"/>
            <a:chExt cx="12054623" cy="17145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054623" cy="17145000"/>
              <a:chOff x="0" y="0"/>
              <a:chExt cx="660400" cy="9392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0400" cy="939271"/>
              </a:xfrm>
              <a:custGeom>
                <a:avLst/>
                <a:gdLst/>
                <a:ahLst/>
                <a:cxnLst/>
                <a:rect r="r" b="b" t="t" l="l"/>
                <a:pathLst>
                  <a:path h="939271" w="660400">
                    <a:moveTo>
                      <a:pt x="220252" y="920202"/>
                    </a:moveTo>
                    <a:cubicBezTo>
                      <a:pt x="254109" y="931716"/>
                      <a:pt x="292600" y="939271"/>
                      <a:pt x="330378" y="939271"/>
                    </a:cubicBezTo>
                    <a:cubicBezTo>
                      <a:pt x="368157" y="939271"/>
                      <a:pt x="404509" y="932794"/>
                      <a:pt x="438009" y="921280"/>
                    </a:cubicBezTo>
                    <a:cubicBezTo>
                      <a:pt x="438723" y="920921"/>
                      <a:pt x="439435" y="920921"/>
                      <a:pt x="440148" y="920561"/>
                    </a:cubicBezTo>
                    <a:cubicBezTo>
                      <a:pt x="565955" y="874506"/>
                      <a:pt x="658618" y="752892"/>
                      <a:pt x="660400" y="607960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607509"/>
                    </a:lnTo>
                    <a:cubicBezTo>
                      <a:pt x="1782" y="753611"/>
                      <a:pt x="93019" y="875226"/>
                      <a:pt x="220252" y="920202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66675"/>
                <a:ext cx="660400" cy="8789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8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55881" y="13030200"/>
              <a:ext cx="5595505" cy="4114800"/>
              <a:chOff x="0" y="0"/>
              <a:chExt cx="1105285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0528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05285">
                    <a:moveTo>
                      <a:pt x="0" y="0"/>
                    </a:moveTo>
                    <a:lnTo>
                      <a:pt x="1105285" y="0"/>
                    </a:lnTo>
                    <a:lnTo>
                      <a:pt x="1105285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1105285" cy="879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82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6174977" y="9062430"/>
            <a:ext cx="2716556" cy="448179"/>
            <a:chOff x="0" y="0"/>
            <a:chExt cx="749744" cy="1236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9744" cy="123693"/>
            </a:xfrm>
            <a:custGeom>
              <a:avLst/>
              <a:gdLst/>
              <a:ahLst/>
              <a:cxnLst/>
              <a:rect r="r" b="b" t="t" l="l"/>
              <a:pathLst>
                <a:path h="123693" w="749744">
                  <a:moveTo>
                    <a:pt x="0" y="0"/>
                  </a:moveTo>
                  <a:lnTo>
                    <a:pt x="749744" y="0"/>
                  </a:lnTo>
                  <a:lnTo>
                    <a:pt x="749744" y="123693"/>
                  </a:lnTo>
                  <a:lnTo>
                    <a:pt x="0" y="123693"/>
                  </a:lnTo>
                  <a:close/>
                </a:path>
              </a:pathLst>
            </a:custGeom>
            <a:solidFill>
              <a:srgbClr val="1CA4CD"/>
            </a:solidFill>
            <a:ln w="9525" cap="sq">
              <a:solidFill>
                <a:srgbClr val="1EABC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49744" cy="190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345208" y="9214513"/>
            <a:ext cx="2546324" cy="20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0"/>
              </a:lnSpc>
            </a:pPr>
            <a:r>
              <a:rPr lang="en-US" b="true" sz="1643" spc="5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ARRASTA PRO LADO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820798" y="9062430"/>
            <a:ext cx="495035" cy="448179"/>
            <a:chOff x="0" y="0"/>
            <a:chExt cx="136625" cy="1236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6625" cy="123693"/>
            </a:xfrm>
            <a:custGeom>
              <a:avLst/>
              <a:gdLst/>
              <a:ahLst/>
              <a:cxnLst/>
              <a:rect r="r" b="b" t="t" l="l"/>
              <a:pathLst>
                <a:path h="123693" w="136625">
                  <a:moveTo>
                    <a:pt x="0" y="0"/>
                  </a:moveTo>
                  <a:lnTo>
                    <a:pt x="136625" y="0"/>
                  </a:lnTo>
                  <a:lnTo>
                    <a:pt x="136625" y="123693"/>
                  </a:lnTo>
                  <a:lnTo>
                    <a:pt x="0" y="1236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1EABCD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36625" cy="190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8976858" y="9276995"/>
            <a:ext cx="182914" cy="0"/>
          </a:xfrm>
          <a:prstGeom prst="line">
            <a:avLst/>
          </a:prstGeom>
          <a:ln cap="flat" w="19050">
            <a:solidFill>
              <a:srgbClr val="1EABC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6474811" y="9767785"/>
            <a:ext cx="2955322" cy="2955322"/>
          </a:xfrm>
          <a:custGeom>
            <a:avLst/>
            <a:gdLst/>
            <a:ahLst/>
            <a:cxnLst/>
            <a:rect r="r" b="b" t="t" l="l"/>
            <a:pathLst>
              <a:path h="2955322" w="2955322">
                <a:moveTo>
                  <a:pt x="0" y="0"/>
                </a:moveTo>
                <a:lnTo>
                  <a:pt x="2955322" y="0"/>
                </a:lnTo>
                <a:lnTo>
                  <a:pt x="2955322" y="2955322"/>
                </a:lnTo>
                <a:lnTo>
                  <a:pt x="0" y="295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4560791" y="1028700"/>
            <a:ext cx="21369538" cy="14264167"/>
          </a:xfrm>
          <a:custGeom>
            <a:avLst/>
            <a:gdLst/>
            <a:ahLst/>
            <a:cxnLst/>
            <a:rect r="r" b="b" t="t" l="l"/>
            <a:pathLst>
              <a:path h="14264167" w="21369538">
                <a:moveTo>
                  <a:pt x="0" y="0"/>
                </a:moveTo>
                <a:lnTo>
                  <a:pt x="21369538" y="0"/>
                </a:lnTo>
                <a:lnTo>
                  <a:pt x="21369538" y="14264167"/>
                </a:lnTo>
                <a:lnTo>
                  <a:pt x="0" y="14264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217528" y="2686867"/>
            <a:ext cx="6255361" cy="197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151722"/>
                </a:solidFill>
                <a:latin typeface="Poppins Bold"/>
                <a:ea typeface="Poppins Bold"/>
                <a:cs typeface="Poppins Bold"/>
                <a:sym typeface="Poppins Bold"/>
              </a:rPr>
              <a:t>Au</a:t>
            </a:r>
            <a:r>
              <a:rPr lang="en-US" b="true" sz="6800" strike="noStrike" u="none">
                <a:solidFill>
                  <a:srgbClr val="151722"/>
                </a:solidFill>
                <a:latin typeface="Poppins Bold"/>
                <a:ea typeface="Poppins Bold"/>
                <a:cs typeface="Poppins Bold"/>
                <a:sym typeface="Poppins Bold"/>
              </a:rPr>
              <a:t>tomação de Trato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72332" y="5116245"/>
            <a:ext cx="4143501" cy="3468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87"/>
              </a:lnSpc>
              <a:spcBef>
                <a:spcPct val="0"/>
              </a:spcBef>
            </a:pPr>
            <a:r>
              <a:rPr lang="en-US" sz="3079">
                <a:solidFill>
                  <a:srgbClr val="151722"/>
                </a:solidFill>
                <a:latin typeface="Poppins"/>
                <a:ea typeface="Poppins"/>
                <a:cs typeface="Poppins"/>
                <a:sym typeface="Poppins"/>
              </a:rPr>
              <a:t>O FieldVet monitora os dados sanitários</a:t>
            </a:r>
            <a:r>
              <a:rPr lang="en-US" sz="3079">
                <a:solidFill>
                  <a:srgbClr val="151722"/>
                </a:solidFill>
                <a:latin typeface="Poppins"/>
                <a:ea typeface="Poppins"/>
                <a:cs typeface="Poppins"/>
                <a:sym typeface="Poppins"/>
              </a:rPr>
              <a:t> do rebanho, facilita o acesso a relatórios online e </a:t>
            </a:r>
            <a:r>
              <a:rPr lang="en-US" sz="3079" strike="noStrike" u="none">
                <a:solidFill>
                  <a:srgbClr val="151722"/>
                </a:solidFill>
                <a:latin typeface="Poppins"/>
                <a:ea typeface="Poppins"/>
                <a:cs typeface="Poppins"/>
                <a:sym typeface="Poppins"/>
              </a:rPr>
              <a:t>garante uma gestão mais rápida, segura e inteligente.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54982" y="2012074"/>
            <a:ext cx="5575151" cy="66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827"/>
              </a:lnSpc>
              <a:spcBef>
                <a:spcPct val="0"/>
              </a:spcBef>
            </a:pPr>
            <a:r>
              <a:rPr lang="en-US" sz="4388">
                <a:solidFill>
                  <a:srgbClr val="151722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DAG_piWyVuA</dc:identifier>
  <dcterms:modified xsi:type="dcterms:W3CDTF">2011-08-01T06:04:30Z</dcterms:modified>
  <cp:revision>1</cp:revision>
  <dc:title>POSTS FIELD</dc:title>
</cp:coreProperties>
</file>