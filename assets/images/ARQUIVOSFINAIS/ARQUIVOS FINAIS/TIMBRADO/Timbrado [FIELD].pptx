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23622000" cy="33413700"/>
  <p:notesSz cx="6858000" cy="9144000"/>
  <p:embeddedFontLst>
    <p:embeddedFont>
      <p:font typeface="Calibri" panose="020F0502020204030204" pitchFamily="34" charset="0"/>
      <p:regular r:id="rId4"/>
      <p:bold r:id="rId5"/>
      <p:italic r:id="rId6"/>
      <p:boldItalic r:id="rId7"/>
    </p:embeddedFont>
    <p:embeddedFont>
      <p:font typeface="Montserrat" pitchFamily="2" charset="0"/>
      <p:regular r:id="rId8"/>
      <p:bold r:id="rId9"/>
      <p:italic r:id="rId10"/>
      <p:boldItalic r:id="rId11"/>
    </p:embeddedFont>
    <p:embeddedFont>
      <p:font typeface="Montserrat Bold" pitchFamily="2" charset="0"/>
      <p:regular r:id="rId12"/>
      <p:bold r:id="rId13"/>
    </p:embeddedFont>
    <p:embeddedFont>
      <p:font typeface="Montserrat Medium" pitchFamily="2" charset="0"/>
      <p:regular r:id="rId14"/>
      <p:italic r:id="rId15"/>
    </p:embeddedFont>
    <p:embeddedFont>
      <p:font typeface="Montserrat Semi-Bold" panose="020B0604020202020204" charset="0"/>
      <p:regular r:id="rId16"/>
    </p:embeddedFont>
    <p:embeddedFont>
      <p:font typeface="Signature"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2394" y="-9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66859" y="1372473"/>
            <a:ext cx="39664232" cy="31354645"/>
          </a:xfrm>
          <a:custGeom>
            <a:avLst/>
            <a:gdLst/>
            <a:ahLst/>
            <a:cxnLst/>
            <a:rect l="l" t="t" r="r" b="b"/>
            <a:pathLst>
              <a:path w="39664232" h="31354645">
                <a:moveTo>
                  <a:pt x="0" y="0"/>
                </a:moveTo>
                <a:lnTo>
                  <a:pt x="39664232" y="0"/>
                </a:lnTo>
                <a:lnTo>
                  <a:pt x="39664232" y="31354645"/>
                </a:lnTo>
                <a:lnTo>
                  <a:pt x="0" y="31354645"/>
                </a:lnTo>
                <a:lnTo>
                  <a:pt x="0" y="0"/>
                </a:lnTo>
                <a:close/>
              </a:path>
            </a:pathLst>
          </a:custGeom>
          <a:blipFill>
            <a:blip r:embed="rId2">
              <a:alphaModFix amt="9999"/>
            </a:blip>
            <a:stretch>
              <a:fillRect b="-26501"/>
            </a:stretch>
          </a:blipFill>
        </p:spPr>
      </p:sp>
      <p:grpSp>
        <p:nvGrpSpPr>
          <p:cNvPr id="3" name="Group 3"/>
          <p:cNvGrpSpPr/>
          <p:nvPr/>
        </p:nvGrpSpPr>
        <p:grpSpPr>
          <a:xfrm>
            <a:off x="-1828800" y="32173655"/>
            <a:ext cx="23679906" cy="1240045"/>
            <a:chOff x="0" y="0"/>
            <a:chExt cx="2715975" cy="142227"/>
          </a:xfrm>
        </p:grpSpPr>
        <p:sp>
          <p:nvSpPr>
            <p:cNvPr id="4" name="Freeform 4"/>
            <p:cNvSpPr/>
            <p:nvPr/>
          </p:nvSpPr>
          <p:spPr>
            <a:xfrm>
              <a:off x="1343" y="0"/>
              <a:ext cx="2713288" cy="142227"/>
            </a:xfrm>
            <a:custGeom>
              <a:avLst/>
              <a:gdLst/>
              <a:ahLst/>
              <a:cxnLst/>
              <a:rect l="l" t="t" r="r" b="b"/>
              <a:pathLst>
                <a:path w="2713288" h="142227">
                  <a:moveTo>
                    <a:pt x="2509470" y="0"/>
                  </a:moveTo>
                  <a:lnTo>
                    <a:pt x="619" y="0"/>
                  </a:lnTo>
                  <a:cubicBezTo>
                    <a:pt x="349" y="0"/>
                    <a:pt x="110" y="175"/>
                    <a:pt x="29" y="432"/>
                  </a:cubicBezTo>
                  <a:cubicBezTo>
                    <a:pt x="-52" y="690"/>
                    <a:pt x="43" y="970"/>
                    <a:pt x="264" y="1125"/>
                  </a:cubicBezTo>
                  <a:lnTo>
                    <a:pt x="200250" y="141103"/>
                  </a:lnTo>
                  <a:cubicBezTo>
                    <a:pt x="201296" y="141835"/>
                    <a:pt x="202542" y="142227"/>
                    <a:pt x="203819" y="142227"/>
                  </a:cubicBezTo>
                  <a:lnTo>
                    <a:pt x="2712670" y="142227"/>
                  </a:lnTo>
                  <a:cubicBezTo>
                    <a:pt x="2712940" y="142227"/>
                    <a:pt x="2713179" y="142052"/>
                    <a:pt x="2713260" y="141795"/>
                  </a:cubicBezTo>
                  <a:cubicBezTo>
                    <a:pt x="2713341" y="141538"/>
                    <a:pt x="2713246" y="141257"/>
                    <a:pt x="2713025" y="141103"/>
                  </a:cubicBezTo>
                  <a:lnTo>
                    <a:pt x="2513039" y="1125"/>
                  </a:lnTo>
                  <a:cubicBezTo>
                    <a:pt x="2511993" y="393"/>
                    <a:pt x="2510747" y="0"/>
                    <a:pt x="2509470" y="0"/>
                  </a:cubicBezTo>
                  <a:close/>
                </a:path>
              </a:pathLst>
            </a:custGeom>
            <a:solidFill>
              <a:srgbClr val="030C28"/>
            </a:solidFill>
          </p:spPr>
        </p:sp>
        <p:sp>
          <p:nvSpPr>
            <p:cNvPr id="5" name="TextBox 5"/>
            <p:cNvSpPr txBox="1"/>
            <p:nvPr/>
          </p:nvSpPr>
          <p:spPr>
            <a:xfrm>
              <a:off x="101600" y="-76200"/>
              <a:ext cx="2512775" cy="218427"/>
            </a:xfrm>
            <a:prstGeom prst="rect">
              <a:avLst/>
            </a:prstGeom>
          </p:spPr>
          <p:txBody>
            <a:bodyPr lIns="50800" tIns="50800" rIns="50800" bIns="50800" rtlCol="0" anchor="ctr"/>
            <a:lstStyle/>
            <a:p>
              <a:pPr algn="ctr">
                <a:lnSpc>
                  <a:spcPts val="6299"/>
                </a:lnSpc>
                <a:spcBef>
                  <a:spcPct val="0"/>
                </a:spcBef>
              </a:pPr>
              <a:endParaRPr/>
            </a:p>
          </p:txBody>
        </p:sp>
      </p:grpSp>
      <p:sp>
        <p:nvSpPr>
          <p:cNvPr id="6" name="AutoShape 6"/>
          <p:cNvSpPr/>
          <p:nvPr/>
        </p:nvSpPr>
        <p:spPr>
          <a:xfrm>
            <a:off x="11546993" y="3167653"/>
            <a:ext cx="10492205" cy="0"/>
          </a:xfrm>
          <a:prstGeom prst="line">
            <a:avLst/>
          </a:prstGeom>
          <a:ln w="19050" cap="flat">
            <a:solidFill>
              <a:srgbClr val="545454"/>
            </a:solidFill>
            <a:prstDash val="solid"/>
            <a:headEnd type="none" w="sm" len="sm"/>
            <a:tailEnd type="none" w="sm" len="sm"/>
          </a:ln>
        </p:spPr>
      </p:sp>
      <p:sp>
        <p:nvSpPr>
          <p:cNvPr id="7" name="AutoShape 7"/>
          <p:cNvSpPr/>
          <p:nvPr/>
        </p:nvSpPr>
        <p:spPr>
          <a:xfrm>
            <a:off x="1658669" y="27230956"/>
            <a:ext cx="20380529" cy="0"/>
          </a:xfrm>
          <a:prstGeom prst="line">
            <a:avLst/>
          </a:prstGeom>
          <a:ln w="19050" cap="flat">
            <a:solidFill>
              <a:srgbClr val="545454"/>
            </a:solidFill>
            <a:prstDash val="solid"/>
            <a:headEnd type="none" w="sm" len="sm"/>
            <a:tailEnd type="none" w="sm" len="sm"/>
          </a:ln>
        </p:spPr>
      </p:sp>
      <p:sp>
        <p:nvSpPr>
          <p:cNvPr id="8" name="Freeform 8"/>
          <p:cNvSpPr/>
          <p:nvPr/>
        </p:nvSpPr>
        <p:spPr>
          <a:xfrm>
            <a:off x="1575102" y="30162198"/>
            <a:ext cx="608450" cy="572957"/>
          </a:xfrm>
          <a:custGeom>
            <a:avLst/>
            <a:gdLst/>
            <a:ahLst/>
            <a:cxnLst/>
            <a:rect l="l" t="t" r="r" b="b"/>
            <a:pathLst>
              <a:path w="608450" h="572957">
                <a:moveTo>
                  <a:pt x="0" y="0"/>
                </a:moveTo>
                <a:lnTo>
                  <a:pt x="608451" y="0"/>
                </a:lnTo>
                <a:lnTo>
                  <a:pt x="608451" y="572957"/>
                </a:lnTo>
                <a:lnTo>
                  <a:pt x="0" y="572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7603563" y="30162198"/>
            <a:ext cx="572957" cy="572957"/>
          </a:xfrm>
          <a:custGeom>
            <a:avLst/>
            <a:gdLst/>
            <a:ahLst/>
            <a:cxnLst/>
            <a:rect l="l" t="t" r="r" b="b"/>
            <a:pathLst>
              <a:path w="572957" h="572957">
                <a:moveTo>
                  <a:pt x="0" y="0"/>
                </a:moveTo>
                <a:lnTo>
                  <a:pt x="572957" y="0"/>
                </a:lnTo>
                <a:lnTo>
                  <a:pt x="572957" y="572957"/>
                </a:lnTo>
                <a:lnTo>
                  <a:pt x="0" y="5729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13705853" y="30244376"/>
            <a:ext cx="765348" cy="490779"/>
          </a:xfrm>
          <a:custGeom>
            <a:avLst/>
            <a:gdLst/>
            <a:ahLst/>
            <a:cxnLst/>
            <a:rect l="l" t="t" r="r" b="b"/>
            <a:pathLst>
              <a:path w="765348" h="490779">
                <a:moveTo>
                  <a:pt x="0" y="0"/>
                </a:moveTo>
                <a:lnTo>
                  <a:pt x="765348" y="0"/>
                </a:lnTo>
                <a:lnTo>
                  <a:pt x="765348" y="490779"/>
                </a:lnTo>
                <a:lnTo>
                  <a:pt x="0" y="4907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1658669" y="7841026"/>
            <a:ext cx="20464096" cy="18341340"/>
          </a:xfrm>
          <a:prstGeom prst="rect">
            <a:avLst/>
          </a:prstGeom>
        </p:spPr>
        <p:txBody>
          <a:bodyPr lIns="0" tIns="0" rIns="0" bIns="0" rtlCol="0" anchor="t">
            <a:spAutoFit/>
          </a:bodyPr>
          <a:lstStyle/>
          <a:p>
            <a:pPr algn="l">
              <a:lnSpc>
                <a:spcPts val="5320"/>
              </a:lnSpc>
            </a:pPr>
            <a:r>
              <a:rPr lang="en-US" sz="3800" b="1">
                <a:solidFill>
                  <a:srgbClr val="736C67"/>
                </a:solidFill>
                <a:latin typeface="Montserrat Semi-Bold"/>
                <a:ea typeface="Montserrat Semi-Bold"/>
                <a:cs typeface="Montserrat Semi-Bold"/>
                <a:sym typeface="Montserrat Semi-Bold"/>
              </a:rPr>
              <a:t>Prezado cliente,</a:t>
            </a:r>
          </a:p>
          <a:p>
            <a:pPr algn="l">
              <a:lnSpc>
                <a:spcPts val="5320"/>
              </a:lnSpc>
            </a:pPr>
            <a:endParaRPr lang="en-US" sz="3800" b="1">
              <a:solidFill>
                <a:srgbClr val="736C67"/>
              </a:solidFill>
              <a:latin typeface="Montserrat Semi-Bold"/>
              <a:ea typeface="Montserrat Semi-Bold"/>
              <a:cs typeface="Montserrat Semi-Bold"/>
              <a:sym typeface="Montserrat Semi-Bold"/>
            </a:endParaRPr>
          </a:p>
          <a:p>
            <a:pPr algn="l">
              <a:lnSpc>
                <a:spcPts val="5320"/>
              </a:lnSpc>
            </a:pPr>
            <a:r>
              <a:rPr lang="en-US" sz="3800">
                <a:solidFill>
                  <a:srgbClr val="736C67"/>
                </a:solidFill>
                <a:latin typeface="Montserrat"/>
                <a:ea typeface="Montserrat"/>
                <a:cs typeface="Montserrat"/>
                <a:sym typeface="Montserrat"/>
              </a:rPr>
              <a:t>Lorem ipsum dolor sit amet, consectetur adipiscing elit. Ut dignissim nulla in mperdiet consequat. Morbi massa dui, congue quis scelerisque sed, gravida ac odio. Etiam ultrices lectus nec nibh pellentesque rutrum a sed tellus. Sed tincidunt ante in tortor iaculis pellentesque. Curabitur et magna est. In imperdiet dui eu blandit consequat. Praesent ultrices euismod nisi nec hendrerit. Aenean vitae feugiat tellus.</a:t>
            </a: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r>
              <a:rPr lang="en-US" sz="3800">
                <a:solidFill>
                  <a:srgbClr val="736C67"/>
                </a:solidFill>
                <a:latin typeface="Montserrat"/>
                <a:ea typeface="Montserrat"/>
                <a:cs typeface="Montserrat"/>
                <a:sym typeface="Montserrat"/>
              </a:rPr>
              <a:t>Class aptent taciti sociosqu ad litora torquent per conubia nostra, per inceptos himenaeos. Aliquam eros mauris, ultricies sed turpis sed, ornare viverra mauris. Quisque molestie, mi eget semper posuere, massa nisi viverra diam, vel porta nulla leo eu enim. Morbi nec vestibulum neque, at sodales nisi. Mauris leo diam, porttitor in porta nec, vehicula id est. Proin et pharetra sapien, at dapibus ligula. Sed varius metus a lacus tincidunt molestie.Proin lacinia interdum iaculis. Maecenas tempus mollis lorem, at fringilla lorem dignissim ut. Nulla et ipsum tellus. Etiam at faucibus libero. Donec a ullamcorper neque, tempus pretium arcu. Vestibulum ante. </a:t>
            </a: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r>
              <a:rPr lang="en-US" sz="3800">
                <a:solidFill>
                  <a:srgbClr val="736C67"/>
                </a:solidFill>
                <a:latin typeface="Montserrat"/>
                <a:ea typeface="Montserrat"/>
                <a:cs typeface="Montserrat"/>
                <a:sym typeface="Montserrat"/>
              </a:rPr>
              <a:t>In hac habitasse platea dictumst. Curabitur vulputate consequat ante, at rutrum purus elementum eu.</a:t>
            </a: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endParaRPr lang="en-US" sz="3800">
              <a:solidFill>
                <a:srgbClr val="736C67"/>
              </a:solidFill>
              <a:latin typeface="Montserrat"/>
              <a:ea typeface="Montserrat"/>
              <a:cs typeface="Montserrat"/>
              <a:sym typeface="Montserrat"/>
            </a:endParaRPr>
          </a:p>
          <a:p>
            <a:pPr algn="l">
              <a:lnSpc>
                <a:spcPts val="5320"/>
              </a:lnSpc>
            </a:pPr>
            <a:r>
              <a:rPr lang="en-US" sz="3800">
                <a:solidFill>
                  <a:srgbClr val="736C67"/>
                </a:solidFill>
                <a:latin typeface="Montserrat"/>
                <a:ea typeface="Montserrat"/>
                <a:cs typeface="Montserrat"/>
                <a:sym typeface="Montserrat"/>
              </a:rPr>
              <a:t>Atenciosamente,</a:t>
            </a:r>
          </a:p>
          <a:p>
            <a:pPr algn="l">
              <a:lnSpc>
                <a:spcPts val="13999"/>
              </a:lnSpc>
            </a:pPr>
            <a:r>
              <a:rPr lang="en-US" sz="9999" spc="959">
                <a:solidFill>
                  <a:srgbClr val="736C67"/>
                </a:solidFill>
                <a:latin typeface="Signature"/>
                <a:ea typeface="Signature"/>
                <a:cs typeface="Signature"/>
                <a:sym typeface="Signature"/>
              </a:rPr>
              <a:t>Individuo Fulano</a:t>
            </a:r>
          </a:p>
        </p:txBody>
      </p:sp>
      <p:sp>
        <p:nvSpPr>
          <p:cNvPr id="12" name="Freeform 12"/>
          <p:cNvSpPr/>
          <p:nvPr/>
        </p:nvSpPr>
        <p:spPr>
          <a:xfrm>
            <a:off x="1575102" y="990234"/>
            <a:ext cx="4354837" cy="4354837"/>
          </a:xfrm>
          <a:custGeom>
            <a:avLst/>
            <a:gdLst/>
            <a:ahLst/>
            <a:cxnLst/>
            <a:rect l="l" t="t" r="r" b="b"/>
            <a:pathLst>
              <a:path w="4354837" h="4354837">
                <a:moveTo>
                  <a:pt x="0" y="0"/>
                </a:moveTo>
                <a:lnTo>
                  <a:pt x="4354838" y="0"/>
                </a:lnTo>
                <a:lnTo>
                  <a:pt x="4354838" y="4354837"/>
                </a:lnTo>
                <a:lnTo>
                  <a:pt x="0" y="4354837"/>
                </a:lnTo>
                <a:lnTo>
                  <a:pt x="0" y="0"/>
                </a:lnTo>
                <a:close/>
              </a:path>
            </a:pathLst>
          </a:custGeom>
          <a:blipFill>
            <a:blip r:embed="rId9"/>
            <a:stretch>
              <a:fillRect/>
            </a:stretch>
          </a:blipFill>
        </p:spPr>
      </p:sp>
      <p:sp>
        <p:nvSpPr>
          <p:cNvPr id="13" name="TextBox 13"/>
          <p:cNvSpPr txBox="1"/>
          <p:nvPr/>
        </p:nvSpPr>
        <p:spPr>
          <a:xfrm>
            <a:off x="17854615" y="1947004"/>
            <a:ext cx="4184584" cy="1116629"/>
          </a:xfrm>
          <a:prstGeom prst="rect">
            <a:avLst/>
          </a:prstGeom>
        </p:spPr>
        <p:txBody>
          <a:bodyPr lIns="0" tIns="0" rIns="0" bIns="0" rtlCol="0" anchor="t">
            <a:spAutoFit/>
          </a:bodyPr>
          <a:lstStyle/>
          <a:p>
            <a:pPr algn="l">
              <a:lnSpc>
                <a:spcPts val="4505"/>
              </a:lnSpc>
            </a:pPr>
            <a:r>
              <a:rPr lang="en-US" sz="3633" spc="181">
                <a:solidFill>
                  <a:srgbClr val="736C67"/>
                </a:solidFill>
                <a:latin typeface="Montserrat"/>
                <a:ea typeface="Montserrat"/>
                <a:cs typeface="Montserrat"/>
                <a:sym typeface="Montserrat"/>
              </a:rPr>
              <a:t>Data:___/___/___</a:t>
            </a:r>
          </a:p>
          <a:p>
            <a:pPr algn="just">
              <a:lnSpc>
                <a:spcPts val="4505"/>
              </a:lnSpc>
            </a:pPr>
            <a:r>
              <a:rPr lang="en-US" sz="3633" spc="563">
                <a:solidFill>
                  <a:srgbClr val="736C67"/>
                </a:solidFill>
                <a:latin typeface="Montserrat"/>
                <a:ea typeface="Montserrat"/>
                <a:cs typeface="Montserrat"/>
                <a:sym typeface="Montserrat"/>
              </a:rPr>
              <a:t>Estado, Brasil</a:t>
            </a:r>
          </a:p>
        </p:txBody>
      </p:sp>
      <p:sp>
        <p:nvSpPr>
          <p:cNvPr id="14" name="TextBox 14"/>
          <p:cNvSpPr txBox="1"/>
          <p:nvPr/>
        </p:nvSpPr>
        <p:spPr>
          <a:xfrm>
            <a:off x="2437216" y="30188906"/>
            <a:ext cx="2896784" cy="471916"/>
          </a:xfrm>
          <a:prstGeom prst="rect">
            <a:avLst/>
          </a:prstGeom>
        </p:spPr>
        <p:txBody>
          <a:bodyPr wrap="square" lIns="0" tIns="0" rIns="0" bIns="0" rtlCol="0" anchor="t">
            <a:spAutoFit/>
          </a:bodyPr>
          <a:lstStyle/>
          <a:p>
            <a:pPr algn="ctr">
              <a:lnSpc>
                <a:spcPts val="3913"/>
              </a:lnSpc>
            </a:pPr>
            <a:r>
              <a:rPr lang="en-US" sz="2795" b="1" spc="67" dirty="0">
                <a:solidFill>
                  <a:srgbClr val="736C67"/>
                </a:solidFill>
                <a:latin typeface="Montserrat Medium"/>
                <a:ea typeface="Montserrat Medium"/>
                <a:cs typeface="Montserrat Medium"/>
                <a:sym typeface="Montserrat Medium"/>
              </a:rPr>
              <a:t>+12 3 4567-8910</a:t>
            </a:r>
          </a:p>
        </p:txBody>
      </p:sp>
      <p:sp>
        <p:nvSpPr>
          <p:cNvPr id="15" name="TextBox 15"/>
          <p:cNvSpPr txBox="1"/>
          <p:nvPr/>
        </p:nvSpPr>
        <p:spPr>
          <a:xfrm>
            <a:off x="8433694" y="30229995"/>
            <a:ext cx="2996305" cy="471916"/>
          </a:xfrm>
          <a:prstGeom prst="rect">
            <a:avLst/>
          </a:prstGeom>
        </p:spPr>
        <p:txBody>
          <a:bodyPr wrap="square" lIns="0" tIns="0" rIns="0" bIns="0" rtlCol="0" anchor="t">
            <a:spAutoFit/>
          </a:bodyPr>
          <a:lstStyle/>
          <a:p>
            <a:pPr algn="ctr">
              <a:lnSpc>
                <a:spcPts val="3913"/>
              </a:lnSpc>
            </a:pPr>
            <a:r>
              <a:rPr lang="en-US" sz="2795" b="1" spc="67" dirty="0">
                <a:solidFill>
                  <a:srgbClr val="736C67"/>
                </a:solidFill>
                <a:latin typeface="Montserrat Medium"/>
                <a:ea typeface="Montserrat Medium"/>
                <a:cs typeface="Montserrat Medium"/>
                <a:sym typeface="Montserrat Medium"/>
              </a:rPr>
              <a:t>+12 3 4567-8910</a:t>
            </a:r>
          </a:p>
        </p:txBody>
      </p:sp>
      <p:sp>
        <p:nvSpPr>
          <p:cNvPr id="16" name="TextBox 16"/>
          <p:cNvSpPr txBox="1"/>
          <p:nvPr/>
        </p:nvSpPr>
        <p:spPr>
          <a:xfrm>
            <a:off x="14728376" y="30229995"/>
            <a:ext cx="5083624" cy="471916"/>
          </a:xfrm>
          <a:prstGeom prst="rect">
            <a:avLst/>
          </a:prstGeom>
        </p:spPr>
        <p:txBody>
          <a:bodyPr wrap="square" lIns="0" tIns="0" rIns="0" bIns="0" rtlCol="0" anchor="t">
            <a:spAutoFit/>
          </a:bodyPr>
          <a:lstStyle/>
          <a:p>
            <a:pPr algn="ctr">
              <a:lnSpc>
                <a:spcPts val="3913"/>
              </a:lnSpc>
            </a:pPr>
            <a:r>
              <a:rPr lang="en-US" sz="2795" b="1" spc="67" dirty="0">
                <a:solidFill>
                  <a:srgbClr val="736C67"/>
                </a:solidFill>
                <a:latin typeface="Montserrat Medium"/>
                <a:ea typeface="Montserrat Medium"/>
                <a:cs typeface="Montserrat Medium"/>
                <a:sym typeface="Montserrat Medium"/>
              </a:rPr>
              <a:t>emailexemplo@email.com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0C28"/>
        </a:solidFill>
        <a:effectLst/>
      </p:bgPr>
    </p:bg>
    <p:spTree>
      <p:nvGrpSpPr>
        <p:cNvPr id="1" name=""/>
        <p:cNvGrpSpPr/>
        <p:nvPr/>
      </p:nvGrpSpPr>
      <p:grpSpPr>
        <a:xfrm>
          <a:off x="0" y="0"/>
          <a:ext cx="0" cy="0"/>
          <a:chOff x="0" y="0"/>
          <a:chExt cx="0" cy="0"/>
        </a:xfrm>
      </p:grpSpPr>
      <p:grpSp>
        <p:nvGrpSpPr>
          <p:cNvPr id="2" name="Group 2"/>
          <p:cNvGrpSpPr/>
          <p:nvPr/>
        </p:nvGrpSpPr>
        <p:grpSpPr>
          <a:xfrm>
            <a:off x="2056475" y="6327411"/>
            <a:ext cx="19519399" cy="25238693"/>
            <a:chOff x="0" y="0"/>
            <a:chExt cx="2238784" cy="2894761"/>
          </a:xfrm>
        </p:grpSpPr>
        <p:sp>
          <p:nvSpPr>
            <p:cNvPr id="3" name="Freeform 3"/>
            <p:cNvSpPr/>
            <p:nvPr/>
          </p:nvSpPr>
          <p:spPr>
            <a:xfrm>
              <a:off x="0" y="0"/>
              <a:ext cx="2238784" cy="2894761"/>
            </a:xfrm>
            <a:custGeom>
              <a:avLst/>
              <a:gdLst/>
              <a:ahLst/>
              <a:cxnLst/>
              <a:rect l="l" t="t" r="r" b="b"/>
              <a:pathLst>
                <a:path w="2238784" h="2894761">
                  <a:moveTo>
                    <a:pt x="39266" y="0"/>
                  </a:moveTo>
                  <a:lnTo>
                    <a:pt x="2199518" y="0"/>
                  </a:lnTo>
                  <a:cubicBezTo>
                    <a:pt x="2209932" y="0"/>
                    <a:pt x="2219920" y="4137"/>
                    <a:pt x="2227283" y="11501"/>
                  </a:cubicBezTo>
                  <a:cubicBezTo>
                    <a:pt x="2234647" y="18865"/>
                    <a:pt x="2238784" y="28852"/>
                    <a:pt x="2238784" y="39266"/>
                  </a:cubicBezTo>
                  <a:lnTo>
                    <a:pt x="2238784" y="2855495"/>
                  </a:lnTo>
                  <a:cubicBezTo>
                    <a:pt x="2238784" y="2865908"/>
                    <a:pt x="2234647" y="2875896"/>
                    <a:pt x="2227283" y="2883260"/>
                  </a:cubicBezTo>
                  <a:cubicBezTo>
                    <a:pt x="2219920" y="2890624"/>
                    <a:pt x="2209932" y="2894761"/>
                    <a:pt x="2199518" y="2894761"/>
                  </a:cubicBezTo>
                  <a:lnTo>
                    <a:pt x="39266" y="2894761"/>
                  </a:lnTo>
                  <a:cubicBezTo>
                    <a:pt x="28852" y="2894761"/>
                    <a:pt x="18865" y="2890624"/>
                    <a:pt x="11501" y="2883260"/>
                  </a:cubicBezTo>
                  <a:cubicBezTo>
                    <a:pt x="4137" y="2875896"/>
                    <a:pt x="0" y="2865908"/>
                    <a:pt x="0" y="2855495"/>
                  </a:cubicBezTo>
                  <a:lnTo>
                    <a:pt x="0" y="39266"/>
                  </a:lnTo>
                  <a:cubicBezTo>
                    <a:pt x="0" y="28852"/>
                    <a:pt x="4137" y="18865"/>
                    <a:pt x="11501" y="11501"/>
                  </a:cubicBezTo>
                  <a:cubicBezTo>
                    <a:pt x="18865" y="4137"/>
                    <a:pt x="28852" y="0"/>
                    <a:pt x="39266" y="0"/>
                  </a:cubicBezTo>
                  <a:close/>
                </a:path>
              </a:pathLst>
            </a:custGeom>
            <a:solidFill>
              <a:srgbClr val="FFFFFF"/>
            </a:solidFill>
          </p:spPr>
        </p:sp>
        <p:sp>
          <p:nvSpPr>
            <p:cNvPr id="4" name="TextBox 4"/>
            <p:cNvSpPr txBox="1"/>
            <p:nvPr/>
          </p:nvSpPr>
          <p:spPr>
            <a:xfrm>
              <a:off x="0" y="-9525"/>
              <a:ext cx="2238784" cy="2904286"/>
            </a:xfrm>
            <a:prstGeom prst="rect">
              <a:avLst/>
            </a:prstGeom>
          </p:spPr>
          <p:txBody>
            <a:bodyPr lIns="50800" tIns="50800" rIns="50800" bIns="50800" rtlCol="0" anchor="ctr"/>
            <a:lstStyle/>
            <a:p>
              <a:pPr algn="ctr">
                <a:lnSpc>
                  <a:spcPts val="4505"/>
                </a:lnSpc>
              </a:pPr>
              <a:endParaRPr/>
            </a:p>
          </p:txBody>
        </p:sp>
      </p:grpSp>
      <p:sp>
        <p:nvSpPr>
          <p:cNvPr id="5" name="Freeform 5"/>
          <p:cNvSpPr/>
          <p:nvPr/>
        </p:nvSpPr>
        <p:spPr>
          <a:xfrm>
            <a:off x="2094575" y="1031825"/>
            <a:ext cx="709298" cy="709298"/>
          </a:xfrm>
          <a:custGeom>
            <a:avLst/>
            <a:gdLst/>
            <a:ahLst/>
            <a:cxnLst/>
            <a:rect l="l" t="t" r="r" b="b"/>
            <a:pathLst>
              <a:path w="709298" h="709298">
                <a:moveTo>
                  <a:pt x="0" y="0"/>
                </a:moveTo>
                <a:lnTo>
                  <a:pt x="709298" y="0"/>
                </a:lnTo>
                <a:lnTo>
                  <a:pt x="709298" y="709297"/>
                </a:lnTo>
                <a:lnTo>
                  <a:pt x="0" y="7092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031913" y="1027503"/>
            <a:ext cx="700655" cy="700655"/>
          </a:xfrm>
          <a:custGeom>
            <a:avLst/>
            <a:gdLst/>
            <a:ahLst/>
            <a:cxnLst/>
            <a:rect l="l" t="t" r="r" b="b"/>
            <a:pathLst>
              <a:path w="700655" h="700655">
                <a:moveTo>
                  <a:pt x="0" y="0"/>
                </a:moveTo>
                <a:lnTo>
                  <a:pt x="700655" y="0"/>
                </a:lnTo>
                <a:lnTo>
                  <a:pt x="700655" y="700656"/>
                </a:lnTo>
                <a:lnTo>
                  <a:pt x="0" y="700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3961168" y="1023182"/>
            <a:ext cx="709298" cy="709298"/>
            <a:chOff x="0" y="0"/>
            <a:chExt cx="945730" cy="945730"/>
          </a:xfrm>
        </p:grpSpPr>
        <p:sp>
          <p:nvSpPr>
            <p:cNvPr id="8" name="Freeform 8"/>
            <p:cNvSpPr/>
            <p:nvPr/>
          </p:nvSpPr>
          <p:spPr>
            <a:xfrm>
              <a:off x="0" y="0"/>
              <a:ext cx="945730" cy="945730"/>
            </a:xfrm>
            <a:custGeom>
              <a:avLst/>
              <a:gdLst/>
              <a:ahLst/>
              <a:cxnLst/>
              <a:rect l="l" t="t" r="r" b="b"/>
              <a:pathLst>
                <a:path w="945730" h="945730">
                  <a:moveTo>
                    <a:pt x="0" y="0"/>
                  </a:moveTo>
                  <a:lnTo>
                    <a:pt x="945730" y="0"/>
                  </a:lnTo>
                  <a:lnTo>
                    <a:pt x="945730" y="945730"/>
                  </a:lnTo>
                  <a:lnTo>
                    <a:pt x="0" y="945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59349" y="180853"/>
              <a:ext cx="572343" cy="584023"/>
            </a:xfrm>
            <a:custGeom>
              <a:avLst/>
              <a:gdLst/>
              <a:ahLst/>
              <a:cxnLst/>
              <a:rect l="l" t="t" r="r" b="b"/>
              <a:pathLst>
                <a:path w="572343" h="584023">
                  <a:moveTo>
                    <a:pt x="0" y="0"/>
                  </a:moveTo>
                  <a:lnTo>
                    <a:pt x="572343" y="0"/>
                  </a:lnTo>
                  <a:lnTo>
                    <a:pt x="572343" y="584024"/>
                  </a:lnTo>
                  <a:lnTo>
                    <a:pt x="0" y="5840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0" name="Freeform 10"/>
          <p:cNvSpPr/>
          <p:nvPr/>
        </p:nvSpPr>
        <p:spPr>
          <a:xfrm>
            <a:off x="17456676" y="1031825"/>
            <a:ext cx="699780" cy="700655"/>
          </a:xfrm>
          <a:custGeom>
            <a:avLst/>
            <a:gdLst/>
            <a:ahLst/>
            <a:cxnLst/>
            <a:rect l="l" t="t" r="r" b="b"/>
            <a:pathLst>
              <a:path w="699780" h="700655">
                <a:moveTo>
                  <a:pt x="0" y="0"/>
                </a:moveTo>
                <a:lnTo>
                  <a:pt x="699780" y="0"/>
                </a:lnTo>
                <a:lnTo>
                  <a:pt x="699780" y="700655"/>
                </a:lnTo>
                <a:lnTo>
                  <a:pt x="0" y="7006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9727061" y="1386473"/>
            <a:ext cx="4167878" cy="4249610"/>
          </a:xfrm>
          <a:custGeom>
            <a:avLst/>
            <a:gdLst/>
            <a:ahLst/>
            <a:cxnLst/>
            <a:rect l="l" t="t" r="r" b="b"/>
            <a:pathLst>
              <a:path w="4167878" h="4249610">
                <a:moveTo>
                  <a:pt x="0" y="0"/>
                </a:moveTo>
                <a:lnTo>
                  <a:pt x="4167878" y="0"/>
                </a:lnTo>
                <a:lnTo>
                  <a:pt x="4167878" y="4249611"/>
                </a:lnTo>
                <a:lnTo>
                  <a:pt x="0" y="4249611"/>
                </a:lnTo>
                <a:lnTo>
                  <a:pt x="0" y="0"/>
                </a:lnTo>
                <a:close/>
              </a:path>
            </a:pathLst>
          </a:custGeom>
          <a:blipFill>
            <a:blip r:embed="rId12"/>
            <a:stretch>
              <a:fillRect l="-12294" r="-17241" b="-27044"/>
            </a:stretch>
          </a:blipFill>
        </p:spPr>
      </p:sp>
      <p:sp>
        <p:nvSpPr>
          <p:cNvPr id="12" name="TextBox 12"/>
          <p:cNvSpPr txBox="1"/>
          <p:nvPr/>
        </p:nvSpPr>
        <p:spPr>
          <a:xfrm>
            <a:off x="3098588" y="15832104"/>
            <a:ext cx="14798581" cy="6315710"/>
          </a:xfrm>
          <a:prstGeom prst="rect">
            <a:avLst/>
          </a:prstGeom>
        </p:spPr>
        <p:txBody>
          <a:bodyPr lIns="0" tIns="0" rIns="0" bIns="0" rtlCol="0" anchor="t">
            <a:spAutoFit/>
          </a:bodyPr>
          <a:lstStyle/>
          <a:p>
            <a:pPr algn="l">
              <a:lnSpc>
                <a:spcPts val="8499"/>
              </a:lnSpc>
            </a:pPr>
            <a:r>
              <a:rPr lang="en-US" sz="3399" b="1">
                <a:solidFill>
                  <a:srgbClr val="736C67"/>
                </a:solidFill>
                <a:latin typeface="Montserrat Medium"/>
                <a:ea typeface="Montserrat Medium"/>
                <a:cs typeface="Montserrat Medium"/>
                <a:sym typeface="Montserrat Medium"/>
              </a:rPr>
              <a:t>Serviço 1 </a:t>
            </a:r>
            <a:r>
              <a:rPr lang="en-US" sz="3399">
                <a:solidFill>
                  <a:srgbClr val="736C67"/>
                </a:solidFill>
                <a:latin typeface="Montserrat"/>
                <a:ea typeface="Montserrat"/>
                <a:cs typeface="Montserrat"/>
                <a:sym typeface="Montserrat"/>
              </a:rPr>
              <a:t>   ....................................................................................................................................</a:t>
            </a:r>
          </a:p>
          <a:p>
            <a:pPr algn="l">
              <a:lnSpc>
                <a:spcPts val="8499"/>
              </a:lnSpc>
            </a:pPr>
            <a:r>
              <a:rPr lang="en-US" sz="3399" b="1">
                <a:solidFill>
                  <a:srgbClr val="736C67"/>
                </a:solidFill>
                <a:latin typeface="Montserrat Medium"/>
                <a:ea typeface="Montserrat Medium"/>
                <a:cs typeface="Montserrat Medium"/>
                <a:sym typeface="Montserrat Medium"/>
              </a:rPr>
              <a:t>Serviço 2 </a:t>
            </a:r>
            <a:r>
              <a:rPr lang="en-US" sz="3399">
                <a:solidFill>
                  <a:srgbClr val="736C67"/>
                </a:solidFill>
                <a:latin typeface="Montserrat"/>
                <a:ea typeface="Montserrat"/>
                <a:cs typeface="Montserrat"/>
                <a:sym typeface="Montserrat"/>
              </a:rPr>
              <a:t>   ....................................................................................................................................</a:t>
            </a:r>
          </a:p>
          <a:p>
            <a:pPr algn="l">
              <a:lnSpc>
                <a:spcPts val="8499"/>
              </a:lnSpc>
            </a:pPr>
            <a:r>
              <a:rPr lang="en-US" sz="3399" b="1">
                <a:solidFill>
                  <a:srgbClr val="736C67"/>
                </a:solidFill>
                <a:latin typeface="Montserrat Medium"/>
                <a:ea typeface="Montserrat Medium"/>
                <a:cs typeface="Montserrat Medium"/>
                <a:sym typeface="Montserrat Medium"/>
              </a:rPr>
              <a:t>Serviço 3</a:t>
            </a:r>
            <a:r>
              <a:rPr lang="en-US" sz="3399">
                <a:solidFill>
                  <a:srgbClr val="736C67"/>
                </a:solidFill>
                <a:latin typeface="Montserrat"/>
                <a:ea typeface="Montserrat"/>
                <a:cs typeface="Montserrat"/>
                <a:sym typeface="Montserrat"/>
              </a:rPr>
              <a:t>    ....................................................................................................................................</a:t>
            </a:r>
          </a:p>
          <a:p>
            <a:pPr algn="l">
              <a:lnSpc>
                <a:spcPts val="8499"/>
              </a:lnSpc>
            </a:pPr>
            <a:r>
              <a:rPr lang="en-US" sz="3399" b="1">
                <a:solidFill>
                  <a:srgbClr val="736C67"/>
                </a:solidFill>
                <a:latin typeface="Montserrat Medium"/>
                <a:ea typeface="Montserrat Medium"/>
                <a:cs typeface="Montserrat Medium"/>
                <a:sym typeface="Montserrat Medium"/>
              </a:rPr>
              <a:t>Serviço 4</a:t>
            </a:r>
            <a:r>
              <a:rPr lang="en-US" sz="3399">
                <a:solidFill>
                  <a:srgbClr val="736C67"/>
                </a:solidFill>
                <a:latin typeface="Montserrat"/>
                <a:ea typeface="Montserrat"/>
                <a:cs typeface="Montserrat"/>
                <a:sym typeface="Montserrat"/>
              </a:rPr>
              <a:t>    ....................................................................................................................................</a:t>
            </a:r>
          </a:p>
          <a:p>
            <a:pPr algn="l">
              <a:lnSpc>
                <a:spcPts val="8499"/>
              </a:lnSpc>
            </a:pPr>
            <a:r>
              <a:rPr lang="en-US" sz="3399" b="1">
                <a:solidFill>
                  <a:srgbClr val="736C67"/>
                </a:solidFill>
                <a:latin typeface="Montserrat Medium"/>
                <a:ea typeface="Montserrat Medium"/>
                <a:cs typeface="Montserrat Medium"/>
                <a:sym typeface="Montserrat Medium"/>
              </a:rPr>
              <a:t>Serviço 5 </a:t>
            </a:r>
            <a:r>
              <a:rPr lang="en-US" sz="3399">
                <a:solidFill>
                  <a:srgbClr val="736C67"/>
                </a:solidFill>
                <a:latin typeface="Montserrat"/>
                <a:ea typeface="Montserrat"/>
                <a:cs typeface="Montserrat"/>
                <a:sym typeface="Montserrat"/>
              </a:rPr>
              <a:t>   ....................................................................................................................................</a:t>
            </a:r>
          </a:p>
          <a:p>
            <a:pPr algn="l">
              <a:lnSpc>
                <a:spcPts val="8499"/>
              </a:lnSpc>
            </a:pPr>
            <a:r>
              <a:rPr lang="en-US" sz="3399" b="1">
                <a:solidFill>
                  <a:srgbClr val="736C67"/>
                </a:solidFill>
                <a:latin typeface="Montserrat Medium"/>
                <a:ea typeface="Montserrat Medium"/>
                <a:cs typeface="Montserrat Medium"/>
                <a:sym typeface="Montserrat Medium"/>
              </a:rPr>
              <a:t>Serviço 6 </a:t>
            </a:r>
            <a:r>
              <a:rPr lang="en-US" sz="3399">
                <a:solidFill>
                  <a:srgbClr val="736C67"/>
                </a:solidFill>
                <a:latin typeface="Montserrat"/>
                <a:ea typeface="Montserrat"/>
                <a:cs typeface="Montserrat"/>
                <a:sym typeface="Montserrat"/>
              </a:rPr>
              <a:t>  ....................................................................................................................................</a:t>
            </a:r>
          </a:p>
        </p:txBody>
      </p:sp>
      <p:sp>
        <p:nvSpPr>
          <p:cNvPr id="13" name="TextBox 13"/>
          <p:cNvSpPr txBox="1"/>
          <p:nvPr/>
        </p:nvSpPr>
        <p:spPr>
          <a:xfrm>
            <a:off x="9898073" y="7277285"/>
            <a:ext cx="3996865" cy="1225820"/>
          </a:xfrm>
          <a:prstGeom prst="rect">
            <a:avLst/>
          </a:prstGeom>
        </p:spPr>
        <p:txBody>
          <a:bodyPr wrap="square" lIns="0" tIns="0" rIns="0" bIns="0" rtlCol="0" anchor="t">
            <a:spAutoFit/>
          </a:bodyPr>
          <a:lstStyle/>
          <a:p>
            <a:pPr algn="ctr">
              <a:lnSpc>
                <a:spcPts val="9956"/>
              </a:lnSpc>
            </a:pPr>
            <a:r>
              <a:rPr lang="en-US" sz="7111" b="1" dirty="0">
                <a:solidFill>
                  <a:srgbClr val="02071F"/>
                </a:solidFill>
                <a:latin typeface="Montserrat Bold"/>
                <a:ea typeface="Montserrat Bold"/>
                <a:cs typeface="Montserrat Bold"/>
                <a:sym typeface="Montserrat Bold"/>
              </a:rPr>
              <a:t>FATURA</a:t>
            </a:r>
          </a:p>
        </p:txBody>
      </p:sp>
      <p:sp>
        <p:nvSpPr>
          <p:cNvPr id="14" name="TextBox 14"/>
          <p:cNvSpPr txBox="1"/>
          <p:nvPr/>
        </p:nvSpPr>
        <p:spPr>
          <a:xfrm>
            <a:off x="3031912" y="9411418"/>
            <a:ext cx="6340687" cy="596537"/>
          </a:xfrm>
          <a:prstGeom prst="rect">
            <a:avLst/>
          </a:prstGeom>
        </p:spPr>
        <p:txBody>
          <a:bodyPr wrap="square" lIns="0" tIns="0" rIns="0" bIns="0" rtlCol="0" anchor="t">
            <a:spAutoFit/>
          </a:bodyPr>
          <a:lstStyle/>
          <a:p>
            <a:pPr algn="ctr">
              <a:lnSpc>
                <a:spcPts val="4920"/>
              </a:lnSpc>
            </a:pPr>
            <a:r>
              <a:rPr lang="en-US" sz="3514" b="1" dirty="0" err="1">
                <a:solidFill>
                  <a:srgbClr val="1EABCD"/>
                </a:solidFill>
                <a:latin typeface="Montserrat Bold"/>
                <a:ea typeface="Montserrat Bold"/>
                <a:cs typeface="Montserrat Bold"/>
                <a:sym typeface="Montserrat Bold"/>
              </a:rPr>
              <a:t>Informação</a:t>
            </a:r>
            <a:r>
              <a:rPr lang="en-US" sz="3514" b="1" dirty="0">
                <a:solidFill>
                  <a:srgbClr val="1EABCD"/>
                </a:solidFill>
                <a:latin typeface="Montserrat Bold"/>
                <a:ea typeface="Montserrat Bold"/>
                <a:cs typeface="Montserrat Bold"/>
                <a:sym typeface="Montserrat Bold"/>
              </a:rPr>
              <a:t> de </a:t>
            </a:r>
            <a:r>
              <a:rPr lang="en-US" sz="3514" b="1" dirty="0" err="1">
                <a:solidFill>
                  <a:srgbClr val="1EABCD"/>
                </a:solidFill>
                <a:latin typeface="Montserrat Bold"/>
                <a:ea typeface="Montserrat Bold"/>
                <a:cs typeface="Montserrat Bold"/>
                <a:sym typeface="Montserrat Bold"/>
              </a:rPr>
              <a:t>Pagamento</a:t>
            </a:r>
            <a:endParaRPr lang="en-US" sz="3514" b="1" dirty="0">
              <a:solidFill>
                <a:srgbClr val="1EABCD"/>
              </a:solidFill>
              <a:latin typeface="Montserrat Bold"/>
              <a:ea typeface="Montserrat Bold"/>
              <a:cs typeface="Montserrat Bold"/>
              <a:sym typeface="Montserrat Bold"/>
            </a:endParaRPr>
          </a:p>
        </p:txBody>
      </p:sp>
      <p:sp>
        <p:nvSpPr>
          <p:cNvPr id="15" name="TextBox 15"/>
          <p:cNvSpPr txBox="1"/>
          <p:nvPr/>
        </p:nvSpPr>
        <p:spPr>
          <a:xfrm>
            <a:off x="19000483" y="14940786"/>
            <a:ext cx="1589604" cy="596537"/>
          </a:xfrm>
          <a:prstGeom prst="rect">
            <a:avLst/>
          </a:prstGeom>
        </p:spPr>
        <p:txBody>
          <a:bodyPr wrap="square" lIns="0" tIns="0" rIns="0" bIns="0" rtlCol="0" anchor="t">
            <a:spAutoFit/>
          </a:bodyPr>
          <a:lstStyle/>
          <a:p>
            <a:pPr algn="ctr">
              <a:lnSpc>
                <a:spcPts val="4920"/>
              </a:lnSpc>
            </a:pPr>
            <a:r>
              <a:rPr lang="en-US" sz="3514" b="1" dirty="0" err="1">
                <a:solidFill>
                  <a:srgbClr val="1EABCD"/>
                </a:solidFill>
                <a:latin typeface="Montserrat Bold"/>
                <a:ea typeface="Montserrat Bold"/>
                <a:cs typeface="Montserrat Bold"/>
                <a:sym typeface="Montserrat Bold"/>
              </a:rPr>
              <a:t>Preço</a:t>
            </a:r>
            <a:endParaRPr lang="en-US" sz="3514" b="1" dirty="0">
              <a:solidFill>
                <a:srgbClr val="1EABCD"/>
              </a:solidFill>
              <a:latin typeface="Montserrat Bold"/>
              <a:ea typeface="Montserrat Bold"/>
              <a:cs typeface="Montserrat Bold"/>
              <a:sym typeface="Montserrat Bold"/>
            </a:endParaRPr>
          </a:p>
        </p:txBody>
      </p:sp>
      <p:sp>
        <p:nvSpPr>
          <p:cNvPr id="16" name="TextBox 16"/>
          <p:cNvSpPr txBox="1"/>
          <p:nvPr/>
        </p:nvSpPr>
        <p:spPr>
          <a:xfrm>
            <a:off x="3031913" y="14807436"/>
            <a:ext cx="5356771" cy="596537"/>
          </a:xfrm>
          <a:prstGeom prst="rect">
            <a:avLst/>
          </a:prstGeom>
        </p:spPr>
        <p:txBody>
          <a:bodyPr lIns="0" tIns="0" rIns="0" bIns="0" rtlCol="0" anchor="t">
            <a:spAutoFit/>
          </a:bodyPr>
          <a:lstStyle/>
          <a:p>
            <a:pPr algn="ctr">
              <a:lnSpc>
                <a:spcPts val="4920"/>
              </a:lnSpc>
            </a:pPr>
            <a:r>
              <a:rPr lang="en-US" sz="3514" b="1">
                <a:solidFill>
                  <a:srgbClr val="1EABCD"/>
                </a:solidFill>
                <a:latin typeface="Montserrat Bold"/>
                <a:ea typeface="Montserrat Bold"/>
                <a:cs typeface="Montserrat Bold"/>
                <a:sym typeface="Montserrat Bold"/>
              </a:rPr>
              <a:t>Descrição dos Serviços</a:t>
            </a:r>
          </a:p>
        </p:txBody>
      </p:sp>
      <p:sp>
        <p:nvSpPr>
          <p:cNvPr id="17" name="TextBox 17"/>
          <p:cNvSpPr txBox="1"/>
          <p:nvPr/>
        </p:nvSpPr>
        <p:spPr>
          <a:xfrm>
            <a:off x="3031913" y="24402240"/>
            <a:ext cx="5121487" cy="585030"/>
          </a:xfrm>
          <a:prstGeom prst="rect">
            <a:avLst/>
          </a:prstGeom>
        </p:spPr>
        <p:txBody>
          <a:bodyPr wrap="square" lIns="0" tIns="0" rIns="0" bIns="0" rtlCol="0" anchor="t">
            <a:spAutoFit/>
          </a:bodyPr>
          <a:lstStyle/>
          <a:p>
            <a:pPr algn="ctr">
              <a:lnSpc>
                <a:spcPts val="4813"/>
              </a:lnSpc>
            </a:pPr>
            <a:r>
              <a:rPr lang="en-US" sz="3437" b="1" dirty="0">
                <a:solidFill>
                  <a:srgbClr val="1EABCD"/>
                </a:solidFill>
                <a:latin typeface="Montserrat Bold"/>
                <a:ea typeface="Montserrat Bold"/>
                <a:cs typeface="Montserrat Bold"/>
                <a:sym typeface="Montserrat Bold"/>
              </a:rPr>
              <a:t>Forma de </a:t>
            </a:r>
            <a:r>
              <a:rPr lang="en-US" sz="3437" b="1" dirty="0" err="1">
                <a:solidFill>
                  <a:srgbClr val="1EABCD"/>
                </a:solidFill>
                <a:latin typeface="Montserrat Bold"/>
                <a:ea typeface="Montserrat Bold"/>
                <a:cs typeface="Montserrat Bold"/>
                <a:sym typeface="Montserrat Bold"/>
              </a:rPr>
              <a:t>Pagamento</a:t>
            </a:r>
            <a:endParaRPr lang="en-US" sz="3437" b="1" dirty="0">
              <a:solidFill>
                <a:srgbClr val="1EABCD"/>
              </a:solidFill>
              <a:latin typeface="Montserrat Bold"/>
              <a:ea typeface="Montserrat Bold"/>
              <a:cs typeface="Montserrat Bold"/>
              <a:sym typeface="Montserrat Bold"/>
            </a:endParaRPr>
          </a:p>
        </p:txBody>
      </p:sp>
      <p:sp>
        <p:nvSpPr>
          <p:cNvPr id="18" name="TextBox 18"/>
          <p:cNvSpPr txBox="1"/>
          <p:nvPr/>
        </p:nvSpPr>
        <p:spPr>
          <a:xfrm>
            <a:off x="3079538" y="22404495"/>
            <a:ext cx="2102062" cy="778510"/>
          </a:xfrm>
          <a:prstGeom prst="rect">
            <a:avLst/>
          </a:prstGeom>
        </p:spPr>
        <p:txBody>
          <a:bodyPr wrap="square" lIns="0" tIns="0" rIns="0" bIns="0" rtlCol="0" anchor="t">
            <a:spAutoFit/>
          </a:bodyPr>
          <a:lstStyle/>
          <a:p>
            <a:pPr algn="ctr">
              <a:lnSpc>
                <a:spcPts val="6439"/>
              </a:lnSpc>
            </a:pPr>
            <a:r>
              <a:rPr lang="en-US" sz="4599" b="1" dirty="0">
                <a:solidFill>
                  <a:srgbClr val="1EABCD"/>
                </a:solidFill>
                <a:latin typeface="Montserrat Bold"/>
                <a:ea typeface="Montserrat Bold"/>
                <a:cs typeface="Montserrat Bold"/>
                <a:sym typeface="Montserrat Bold"/>
              </a:rPr>
              <a:t>TOTAL</a:t>
            </a:r>
          </a:p>
        </p:txBody>
      </p:sp>
      <p:sp>
        <p:nvSpPr>
          <p:cNvPr id="19" name="TextBox 19"/>
          <p:cNvSpPr txBox="1"/>
          <p:nvPr/>
        </p:nvSpPr>
        <p:spPr>
          <a:xfrm>
            <a:off x="18656987" y="22652145"/>
            <a:ext cx="1956941" cy="854075"/>
          </a:xfrm>
          <a:prstGeom prst="rect">
            <a:avLst/>
          </a:prstGeom>
        </p:spPr>
        <p:txBody>
          <a:bodyPr wrap="square" lIns="0" tIns="0" rIns="0" bIns="0" rtlCol="0" anchor="t">
            <a:spAutoFit/>
          </a:bodyPr>
          <a:lstStyle/>
          <a:p>
            <a:pPr algn="ctr">
              <a:lnSpc>
                <a:spcPts val="7000"/>
              </a:lnSpc>
            </a:pPr>
            <a:r>
              <a:rPr lang="en-US" sz="5000" b="1" dirty="0">
                <a:solidFill>
                  <a:srgbClr val="1EABCD"/>
                </a:solidFill>
                <a:latin typeface="Montserrat Bold"/>
                <a:ea typeface="Montserrat Bold"/>
                <a:cs typeface="Montserrat Bold"/>
                <a:sym typeface="Montserrat Bold"/>
              </a:rPr>
              <a:t>R$120</a:t>
            </a:r>
          </a:p>
        </p:txBody>
      </p:sp>
      <p:sp>
        <p:nvSpPr>
          <p:cNvPr id="20" name="TextBox 20"/>
          <p:cNvSpPr txBox="1"/>
          <p:nvPr/>
        </p:nvSpPr>
        <p:spPr>
          <a:xfrm>
            <a:off x="18732145" y="15778458"/>
            <a:ext cx="1881783" cy="6513830"/>
          </a:xfrm>
          <a:prstGeom prst="rect">
            <a:avLst/>
          </a:prstGeom>
        </p:spPr>
        <p:txBody>
          <a:bodyPr lIns="0" tIns="0" rIns="0" bIns="0" rtlCol="0" anchor="t">
            <a:spAutoFit/>
          </a:bodyPr>
          <a:lstStyle/>
          <a:p>
            <a:pPr algn="ctr">
              <a:lnSpc>
                <a:spcPts val="8634"/>
              </a:lnSpc>
            </a:pPr>
            <a:r>
              <a:rPr lang="en-US" sz="5499" b="1">
                <a:solidFill>
                  <a:srgbClr val="736C67"/>
                </a:solidFill>
                <a:latin typeface="Montserrat Medium"/>
                <a:ea typeface="Montserrat Medium"/>
                <a:cs typeface="Montserrat Medium"/>
                <a:sym typeface="Montserrat Medium"/>
              </a:rPr>
              <a:t>R$40</a:t>
            </a:r>
          </a:p>
          <a:p>
            <a:pPr algn="ctr">
              <a:lnSpc>
                <a:spcPts val="8634"/>
              </a:lnSpc>
            </a:pPr>
            <a:r>
              <a:rPr lang="en-US" sz="5499" b="1">
                <a:solidFill>
                  <a:srgbClr val="736C67"/>
                </a:solidFill>
                <a:latin typeface="Montserrat Medium"/>
                <a:ea typeface="Montserrat Medium"/>
                <a:cs typeface="Montserrat Medium"/>
                <a:sym typeface="Montserrat Medium"/>
              </a:rPr>
              <a:t>R$35</a:t>
            </a:r>
          </a:p>
          <a:p>
            <a:pPr algn="ctr">
              <a:lnSpc>
                <a:spcPts val="8634"/>
              </a:lnSpc>
            </a:pPr>
            <a:r>
              <a:rPr lang="en-US" sz="5499" b="1">
                <a:solidFill>
                  <a:srgbClr val="736C67"/>
                </a:solidFill>
                <a:latin typeface="Montserrat Medium"/>
                <a:ea typeface="Montserrat Medium"/>
                <a:cs typeface="Montserrat Medium"/>
                <a:sym typeface="Montserrat Medium"/>
              </a:rPr>
              <a:t>R$25</a:t>
            </a:r>
          </a:p>
          <a:p>
            <a:pPr algn="ctr">
              <a:lnSpc>
                <a:spcPts val="8634"/>
              </a:lnSpc>
            </a:pPr>
            <a:r>
              <a:rPr lang="en-US" sz="5499" b="1">
                <a:solidFill>
                  <a:srgbClr val="736C67"/>
                </a:solidFill>
                <a:latin typeface="Montserrat Medium"/>
                <a:ea typeface="Montserrat Medium"/>
                <a:cs typeface="Montserrat Medium"/>
                <a:sym typeface="Montserrat Medium"/>
              </a:rPr>
              <a:t>R$43</a:t>
            </a:r>
          </a:p>
          <a:p>
            <a:pPr algn="ctr">
              <a:lnSpc>
                <a:spcPts val="8634"/>
              </a:lnSpc>
            </a:pPr>
            <a:r>
              <a:rPr lang="en-US" sz="5499" b="1">
                <a:solidFill>
                  <a:srgbClr val="736C67"/>
                </a:solidFill>
                <a:latin typeface="Montserrat Medium"/>
                <a:ea typeface="Montserrat Medium"/>
                <a:cs typeface="Montserrat Medium"/>
                <a:sym typeface="Montserrat Medium"/>
              </a:rPr>
              <a:t>R$30</a:t>
            </a:r>
          </a:p>
          <a:p>
            <a:pPr algn="ctr">
              <a:lnSpc>
                <a:spcPts val="8634"/>
              </a:lnSpc>
            </a:pPr>
            <a:r>
              <a:rPr lang="en-US" sz="5499" b="1">
                <a:solidFill>
                  <a:srgbClr val="736C67"/>
                </a:solidFill>
                <a:latin typeface="Montserrat Medium"/>
                <a:ea typeface="Montserrat Medium"/>
                <a:cs typeface="Montserrat Medium"/>
                <a:sym typeface="Montserrat Medium"/>
              </a:rPr>
              <a:t>R$25</a:t>
            </a:r>
          </a:p>
        </p:txBody>
      </p:sp>
      <p:sp>
        <p:nvSpPr>
          <p:cNvPr id="21" name="TextBox 21"/>
          <p:cNvSpPr txBox="1"/>
          <p:nvPr/>
        </p:nvSpPr>
        <p:spPr>
          <a:xfrm>
            <a:off x="3117638" y="25415896"/>
            <a:ext cx="17058895" cy="1530350"/>
          </a:xfrm>
          <a:prstGeom prst="rect">
            <a:avLst/>
          </a:prstGeom>
        </p:spPr>
        <p:txBody>
          <a:bodyPr lIns="0" tIns="0" rIns="0" bIns="0" rtlCol="0" anchor="t">
            <a:spAutoFit/>
          </a:bodyPr>
          <a:lstStyle/>
          <a:p>
            <a:pPr algn="l">
              <a:lnSpc>
                <a:spcPts val="4149"/>
              </a:lnSpc>
            </a:pPr>
            <a:r>
              <a:rPr lang="en-US" sz="2499" spc="59">
                <a:solidFill>
                  <a:srgbClr val="A8A7A7"/>
                </a:solidFill>
                <a:latin typeface="Montserrat"/>
                <a:ea typeface="Montserrat"/>
                <a:cs typeface="Montserrat"/>
                <a:sym typeface="Montserrat"/>
              </a:rPr>
              <a:t>1.  Lorem ipsum dolor sit amet, consectetur adipiscing elit, sed do eiusmod tempor incididunt ut labore et dolore magna aliqua. </a:t>
            </a:r>
          </a:p>
          <a:p>
            <a:pPr algn="l">
              <a:lnSpc>
                <a:spcPts val="4149"/>
              </a:lnSpc>
            </a:pPr>
            <a:r>
              <a:rPr lang="en-US" sz="2499" spc="59">
                <a:solidFill>
                  <a:srgbClr val="A8A7A7"/>
                </a:solidFill>
                <a:latin typeface="Montserrat"/>
                <a:ea typeface="Montserrat"/>
                <a:cs typeface="Montserrat"/>
                <a:sym typeface="Montserrat"/>
              </a:rPr>
              <a:t>2.  Ut enim ad minim veniam, quis nostrud exercitation ullamco laboris nisi ut aliquip ex ea commodo </a:t>
            </a:r>
          </a:p>
        </p:txBody>
      </p:sp>
      <p:sp>
        <p:nvSpPr>
          <p:cNvPr id="22" name="TextBox 22"/>
          <p:cNvSpPr txBox="1"/>
          <p:nvPr/>
        </p:nvSpPr>
        <p:spPr>
          <a:xfrm>
            <a:off x="3148202" y="28384521"/>
            <a:ext cx="5890337" cy="1530350"/>
          </a:xfrm>
          <a:prstGeom prst="rect">
            <a:avLst/>
          </a:prstGeom>
        </p:spPr>
        <p:txBody>
          <a:bodyPr lIns="0" tIns="0" rIns="0" bIns="0" rtlCol="0" anchor="t">
            <a:spAutoFit/>
          </a:bodyPr>
          <a:lstStyle/>
          <a:p>
            <a:pPr algn="l">
              <a:lnSpc>
                <a:spcPts val="4149"/>
              </a:lnSpc>
            </a:pPr>
            <a:r>
              <a:rPr lang="en-US" sz="2499" spc="59">
                <a:solidFill>
                  <a:srgbClr val="736C67"/>
                </a:solidFill>
                <a:latin typeface="Montserrat"/>
                <a:ea typeface="Montserrat"/>
                <a:cs typeface="Montserrat"/>
                <a:sym typeface="Montserrat"/>
              </a:rPr>
              <a:t>Departamento de Contabilidade</a:t>
            </a:r>
          </a:p>
          <a:p>
            <a:pPr algn="l">
              <a:lnSpc>
                <a:spcPts val="4149"/>
              </a:lnSpc>
            </a:pPr>
            <a:r>
              <a:rPr lang="en-US" sz="2499" spc="59">
                <a:solidFill>
                  <a:srgbClr val="736C67"/>
                </a:solidFill>
                <a:latin typeface="Montserrat"/>
                <a:ea typeface="Montserrat"/>
                <a:cs typeface="Montserrat"/>
                <a:sym typeface="Montserrat"/>
              </a:rPr>
              <a:t>FULANO DE TAL</a:t>
            </a:r>
          </a:p>
          <a:p>
            <a:pPr algn="l">
              <a:lnSpc>
                <a:spcPts val="4149"/>
              </a:lnSpc>
            </a:pPr>
            <a:r>
              <a:rPr lang="en-US" sz="2499" spc="59">
                <a:solidFill>
                  <a:srgbClr val="736C67"/>
                </a:solidFill>
                <a:latin typeface="Montserrat"/>
                <a:ea typeface="Montserrat"/>
                <a:cs typeface="Montserrat"/>
                <a:sym typeface="Montserrat"/>
              </a:rPr>
              <a:t>Contandor(a) Chefe da  “EMPRESA”</a:t>
            </a:r>
          </a:p>
        </p:txBody>
      </p:sp>
      <p:sp>
        <p:nvSpPr>
          <p:cNvPr id="23" name="TextBox 23"/>
          <p:cNvSpPr txBox="1"/>
          <p:nvPr/>
        </p:nvSpPr>
        <p:spPr>
          <a:xfrm>
            <a:off x="12863702" y="29432271"/>
            <a:ext cx="3656625" cy="482600"/>
          </a:xfrm>
          <a:prstGeom prst="rect">
            <a:avLst/>
          </a:prstGeom>
        </p:spPr>
        <p:txBody>
          <a:bodyPr lIns="0" tIns="0" rIns="0" bIns="0" rtlCol="0" anchor="t">
            <a:spAutoFit/>
          </a:bodyPr>
          <a:lstStyle/>
          <a:p>
            <a:pPr algn="l">
              <a:lnSpc>
                <a:spcPts val="4149"/>
              </a:lnSpc>
            </a:pPr>
            <a:r>
              <a:rPr lang="en-US" sz="2499" spc="59">
                <a:solidFill>
                  <a:srgbClr val="736C67"/>
                </a:solidFill>
                <a:latin typeface="Montserrat"/>
                <a:ea typeface="Montserrat"/>
                <a:cs typeface="Montserrat"/>
                <a:sym typeface="Montserrat"/>
              </a:rPr>
              <a:t>Carimbo &amp; Assinatura</a:t>
            </a:r>
          </a:p>
        </p:txBody>
      </p:sp>
      <p:sp>
        <p:nvSpPr>
          <p:cNvPr id="24" name="TextBox 24"/>
          <p:cNvSpPr txBox="1"/>
          <p:nvPr/>
        </p:nvSpPr>
        <p:spPr>
          <a:xfrm>
            <a:off x="3031913" y="10865205"/>
            <a:ext cx="4963227" cy="2508504"/>
          </a:xfrm>
          <a:prstGeom prst="rect">
            <a:avLst/>
          </a:prstGeom>
        </p:spPr>
        <p:txBody>
          <a:bodyPr lIns="0" tIns="0" rIns="0" bIns="0" rtlCol="0" anchor="t">
            <a:spAutoFit/>
          </a:bodyPr>
          <a:lstStyle/>
          <a:p>
            <a:pPr algn="l">
              <a:lnSpc>
                <a:spcPts val="5088"/>
              </a:lnSpc>
            </a:pPr>
            <a:r>
              <a:rPr lang="en-US" sz="3200" spc="76">
                <a:solidFill>
                  <a:srgbClr val="736C67"/>
                </a:solidFill>
                <a:latin typeface="Montserrat"/>
                <a:ea typeface="Montserrat"/>
                <a:cs typeface="Montserrat"/>
                <a:sym typeface="Montserrat"/>
              </a:rPr>
              <a:t>Número da Fatura:</a:t>
            </a:r>
          </a:p>
          <a:p>
            <a:pPr algn="l">
              <a:lnSpc>
                <a:spcPts val="5088"/>
              </a:lnSpc>
            </a:pPr>
            <a:r>
              <a:rPr lang="en-US" sz="3200" spc="76">
                <a:solidFill>
                  <a:srgbClr val="736C67"/>
                </a:solidFill>
                <a:latin typeface="Montserrat"/>
                <a:ea typeface="Montserrat"/>
                <a:cs typeface="Montserrat"/>
                <a:sym typeface="Montserrat"/>
              </a:rPr>
              <a:t>Número da Conta:  </a:t>
            </a:r>
          </a:p>
          <a:p>
            <a:pPr algn="l">
              <a:lnSpc>
                <a:spcPts val="5088"/>
              </a:lnSpc>
            </a:pPr>
            <a:r>
              <a:rPr lang="en-US" sz="3200" spc="76">
                <a:solidFill>
                  <a:srgbClr val="736C67"/>
                </a:solidFill>
                <a:latin typeface="Montserrat"/>
                <a:ea typeface="Montserrat"/>
                <a:cs typeface="Montserrat"/>
                <a:sym typeface="Montserrat"/>
              </a:rPr>
              <a:t>DATA DA FATURA:</a:t>
            </a:r>
          </a:p>
          <a:p>
            <a:pPr algn="l">
              <a:lnSpc>
                <a:spcPts val="5088"/>
              </a:lnSpc>
            </a:pPr>
            <a:r>
              <a:rPr lang="en-US" sz="3200" spc="76">
                <a:solidFill>
                  <a:srgbClr val="736C67"/>
                </a:solidFill>
                <a:latin typeface="Montserrat"/>
                <a:ea typeface="Montserrat"/>
                <a:cs typeface="Montserrat"/>
                <a:sym typeface="Montserrat"/>
              </a:rPr>
              <a:t>DAta da Emissão</a:t>
            </a:r>
          </a:p>
        </p:txBody>
      </p:sp>
      <p:sp>
        <p:nvSpPr>
          <p:cNvPr id="25" name="TextBox 25"/>
          <p:cNvSpPr txBox="1"/>
          <p:nvPr/>
        </p:nvSpPr>
        <p:spPr>
          <a:xfrm>
            <a:off x="14418818" y="10836630"/>
            <a:ext cx="5748191" cy="2553969"/>
          </a:xfrm>
          <a:prstGeom prst="rect">
            <a:avLst/>
          </a:prstGeom>
        </p:spPr>
        <p:txBody>
          <a:bodyPr lIns="0" tIns="0" rIns="0" bIns="0" rtlCol="0" anchor="t">
            <a:spAutoFit/>
          </a:bodyPr>
          <a:lstStyle/>
          <a:p>
            <a:pPr algn="l">
              <a:lnSpc>
                <a:spcPts val="5088"/>
              </a:lnSpc>
            </a:pPr>
            <a:r>
              <a:rPr lang="en-US" sz="3200" spc="76" dirty="0" err="1">
                <a:solidFill>
                  <a:srgbClr val="736C67"/>
                </a:solidFill>
                <a:latin typeface="Montserrat"/>
                <a:ea typeface="Montserrat"/>
                <a:cs typeface="Montserrat"/>
                <a:sym typeface="Montserrat"/>
              </a:rPr>
              <a:t>Fulano</a:t>
            </a:r>
            <a:r>
              <a:rPr lang="en-US" sz="3200" spc="76" dirty="0">
                <a:solidFill>
                  <a:srgbClr val="736C67"/>
                </a:solidFill>
                <a:latin typeface="Montserrat"/>
                <a:ea typeface="Montserrat"/>
                <a:cs typeface="Montserrat"/>
                <a:sym typeface="Montserrat"/>
              </a:rPr>
              <a:t> de Tal</a:t>
            </a:r>
          </a:p>
          <a:p>
            <a:pPr algn="l">
              <a:lnSpc>
                <a:spcPts val="5088"/>
              </a:lnSpc>
            </a:pPr>
            <a:r>
              <a:rPr lang="en-US" sz="3200" spc="76" dirty="0" err="1">
                <a:solidFill>
                  <a:srgbClr val="736C67"/>
                </a:solidFill>
                <a:latin typeface="Montserrat"/>
                <a:ea typeface="Montserrat"/>
                <a:cs typeface="Montserrat"/>
                <a:sym typeface="Montserrat"/>
              </a:rPr>
              <a:t>Rua</a:t>
            </a:r>
            <a:r>
              <a:rPr lang="en-US" sz="3200" spc="76" dirty="0">
                <a:solidFill>
                  <a:srgbClr val="736C67"/>
                </a:solidFill>
                <a:latin typeface="Montserrat"/>
                <a:ea typeface="Montserrat"/>
                <a:cs typeface="Montserrat"/>
                <a:sym typeface="Montserrat"/>
              </a:rPr>
              <a:t> 123, ESTADO, PAÍS</a:t>
            </a:r>
          </a:p>
          <a:p>
            <a:pPr algn="l">
              <a:lnSpc>
                <a:spcPts val="5088"/>
              </a:lnSpc>
            </a:pPr>
            <a:r>
              <a:rPr lang="en-US" sz="3200" spc="76" dirty="0">
                <a:solidFill>
                  <a:srgbClr val="736C67"/>
                </a:solidFill>
                <a:latin typeface="Montserrat"/>
                <a:ea typeface="Montserrat"/>
                <a:cs typeface="Montserrat"/>
                <a:sym typeface="Montserrat"/>
              </a:rPr>
              <a:t>+12 3 4567-8910</a:t>
            </a:r>
          </a:p>
          <a:p>
            <a:pPr algn="l">
              <a:lnSpc>
                <a:spcPts val="5088"/>
              </a:lnSpc>
            </a:pPr>
            <a:r>
              <a:rPr lang="en-US" sz="3200" spc="76" dirty="0">
                <a:solidFill>
                  <a:srgbClr val="736C67"/>
                </a:solidFill>
                <a:latin typeface="Montserrat"/>
                <a:ea typeface="Montserrat"/>
                <a:cs typeface="Montserrat"/>
                <a:sym typeface="Montserrat"/>
              </a:rPr>
              <a:t>emailexemplo@email.com</a:t>
            </a:r>
          </a:p>
        </p:txBody>
      </p:sp>
      <p:sp>
        <p:nvSpPr>
          <p:cNvPr id="26" name="TextBox 26"/>
          <p:cNvSpPr txBox="1"/>
          <p:nvPr/>
        </p:nvSpPr>
        <p:spPr>
          <a:xfrm>
            <a:off x="11246597" y="10836630"/>
            <a:ext cx="2901601" cy="593979"/>
          </a:xfrm>
          <a:prstGeom prst="rect">
            <a:avLst/>
          </a:prstGeom>
        </p:spPr>
        <p:txBody>
          <a:bodyPr lIns="0" tIns="0" rIns="0" bIns="0" rtlCol="0" anchor="t">
            <a:spAutoFit/>
          </a:bodyPr>
          <a:lstStyle/>
          <a:p>
            <a:pPr algn="l">
              <a:lnSpc>
                <a:spcPts val="5088"/>
              </a:lnSpc>
            </a:pPr>
            <a:r>
              <a:rPr lang="en-US" sz="3200" spc="76">
                <a:solidFill>
                  <a:srgbClr val="736C67"/>
                </a:solidFill>
                <a:latin typeface="Montserrat"/>
                <a:ea typeface="Montserrat"/>
                <a:cs typeface="Montserrat"/>
                <a:sym typeface="Montserrat"/>
              </a:rPr>
              <a:t>Faturado por:</a:t>
            </a:r>
          </a:p>
        </p:txBody>
      </p:sp>
      <p:sp>
        <p:nvSpPr>
          <p:cNvPr id="27" name="TextBox 27"/>
          <p:cNvSpPr txBox="1"/>
          <p:nvPr/>
        </p:nvSpPr>
        <p:spPr>
          <a:xfrm>
            <a:off x="4803260" y="1028405"/>
            <a:ext cx="3731140" cy="632177"/>
          </a:xfrm>
          <a:prstGeom prst="rect">
            <a:avLst/>
          </a:prstGeom>
        </p:spPr>
        <p:txBody>
          <a:bodyPr wrap="square" lIns="0" tIns="0" rIns="0" bIns="0" rtlCol="0" anchor="t">
            <a:spAutoFit/>
          </a:bodyPr>
          <a:lstStyle/>
          <a:p>
            <a:pPr algn="ctr">
              <a:lnSpc>
                <a:spcPts val="5250"/>
              </a:lnSpc>
            </a:pPr>
            <a:r>
              <a:rPr lang="en-US" sz="3750" b="1" dirty="0">
                <a:solidFill>
                  <a:srgbClr val="FFFFFF"/>
                </a:solidFill>
                <a:latin typeface="Montserrat Medium"/>
                <a:ea typeface="Montserrat Medium"/>
                <a:cs typeface="Montserrat Medium"/>
                <a:sym typeface="Montserrat Medium"/>
              </a:rPr>
              <a:t>@</a:t>
            </a:r>
            <a:r>
              <a:rPr lang="en-US" sz="3750" b="1" dirty="0" err="1">
                <a:solidFill>
                  <a:srgbClr val="FFFFFF"/>
                </a:solidFill>
                <a:latin typeface="Montserrat Medium"/>
                <a:ea typeface="Montserrat Medium"/>
                <a:cs typeface="Montserrat Medium"/>
                <a:sym typeface="Montserrat Medium"/>
              </a:rPr>
              <a:t>redes_sociais</a:t>
            </a:r>
            <a:endParaRPr lang="en-US" sz="3750" b="1" dirty="0">
              <a:solidFill>
                <a:srgbClr val="FFFFFF"/>
              </a:solidFill>
              <a:latin typeface="Montserrat Medium"/>
              <a:ea typeface="Montserrat Medium"/>
              <a:cs typeface="Montserrat Medium"/>
              <a:sym typeface="Montserrat Medium"/>
            </a:endParaRPr>
          </a:p>
        </p:txBody>
      </p:sp>
      <p:sp>
        <p:nvSpPr>
          <p:cNvPr id="28" name="TextBox 28"/>
          <p:cNvSpPr txBox="1"/>
          <p:nvPr/>
        </p:nvSpPr>
        <p:spPr>
          <a:xfrm>
            <a:off x="18385056" y="1037047"/>
            <a:ext cx="4170144" cy="632177"/>
          </a:xfrm>
          <a:prstGeom prst="rect">
            <a:avLst/>
          </a:prstGeom>
        </p:spPr>
        <p:txBody>
          <a:bodyPr wrap="square" lIns="0" tIns="0" rIns="0" bIns="0" rtlCol="0" anchor="t">
            <a:spAutoFit/>
          </a:bodyPr>
          <a:lstStyle/>
          <a:p>
            <a:pPr algn="ctr">
              <a:lnSpc>
                <a:spcPts val="5250"/>
              </a:lnSpc>
            </a:pPr>
            <a:r>
              <a:rPr lang="en-US" sz="3750" b="1" dirty="0">
                <a:solidFill>
                  <a:srgbClr val="FFFFFF"/>
                </a:solidFill>
                <a:latin typeface="Montserrat Medium"/>
                <a:ea typeface="Montserrat Medium"/>
                <a:cs typeface="Montserrat Medium"/>
                <a:sym typeface="Montserrat Medium"/>
              </a:rPr>
              <a:t>siteexemplo.com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395</Words>
  <Application>Microsoft Office PowerPoint</Application>
  <PresentationFormat>Custom</PresentationFormat>
  <Paragraphs>55</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Signature</vt:lpstr>
      <vt:lpstr>Montserrat Semi-Bold</vt:lpstr>
      <vt:lpstr>Montserrat Bold</vt:lpstr>
      <vt:lpstr>Montserrat</vt:lpstr>
      <vt:lpstr>Calibri</vt:lpstr>
      <vt:lpstr>Arial</vt:lpstr>
      <vt:lpstr>Montserrat Medium</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Timbrado [FIELD]</dc:title>
  <cp:lastModifiedBy>Cael César</cp:lastModifiedBy>
  <cp:revision>2</cp:revision>
  <dcterms:created xsi:type="dcterms:W3CDTF">2006-08-16T00:00:00Z</dcterms:created>
  <dcterms:modified xsi:type="dcterms:W3CDTF">2026-01-28T03:36:39Z</dcterms:modified>
  <dc:identifier>DAG_pSrFuVg</dc:identifier>
</cp:coreProperties>
</file>